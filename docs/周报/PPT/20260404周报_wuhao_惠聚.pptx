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627"/>
            <a:ext cx="558166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技术周报：惠聚项目 — 齐为主链联调基本收口，科技平台已完成初步对齐</a:t>
            </a:r>
            <a:endParaRPr lang="en-US" sz="1193" dirty="0"/>
          </a:p>
        </p:txBody>
      </p:sp>
      <p:sp>
        <p:nvSpPr>
          <p:cNvPr id="4" name="Shape 1"/>
          <p:cNvSpPr/>
          <p:nvPr/>
        </p:nvSpPr>
        <p:spPr>
          <a:xfrm>
            <a:off x="6422231" y="150912"/>
            <a:ext cx="2436019" cy="269677"/>
          </a:xfrm>
          <a:prstGeom prst="rect">
            <a:avLst/>
          </a:prstGeom>
          <a:solidFill>
            <a:srgbClr val="FFFBEB"/>
          </a:solidFill>
          <a:ln w="18288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07981" y="208062"/>
            <a:ext cx="20359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项目状态：整体可控，部分外部条件需协调</a:t>
            </a:r>
            <a:endParaRPr lang="en-US" sz="734" dirty="0"/>
          </a:p>
        </p:txBody>
      </p:sp>
      <p:sp>
        <p:nvSpPr>
          <p:cNvPr id="6" name="Shape 3"/>
          <p:cNvSpPr/>
          <p:nvPr/>
        </p:nvSpPr>
        <p:spPr>
          <a:xfrm>
            <a:off x="285750" y="535781"/>
            <a:ext cx="2786063" cy="269677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535781"/>
            <a:ext cx="2786063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一、产品</a:t>
            </a:r>
            <a:endParaRPr lang="en-US" sz="734" dirty="0"/>
          </a:p>
        </p:txBody>
      </p:sp>
      <p:sp>
        <p:nvSpPr>
          <p:cNvPr id="8" name="Shape 5"/>
          <p:cNvSpPr/>
          <p:nvPr/>
        </p:nvSpPr>
        <p:spPr>
          <a:xfrm>
            <a:off x="289322" y="809030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9322" y="809030"/>
            <a:ext cx="694730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事项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984052" y="809030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052" y="809030"/>
            <a:ext cx="555761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1539813" y="809030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39813" y="809030"/>
            <a:ext cx="1528428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关键节点 / 进展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289322" y="1057275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9322" y="1057275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科技平台对齐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984052" y="1057275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4052" y="1057275"/>
            <a:ext cx="55576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1539813" y="1057275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39813" y="1057275"/>
            <a:ext cx="1528428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已梳理改造点，明确接口定义分工，接口地址与登录态待对方补充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289322" y="1431596"/>
            <a:ext cx="694730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9322" y="1431596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页面与流程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984052" y="1431596"/>
            <a:ext cx="555761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4052" y="1431596"/>
            <a:ext cx="55576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1539813" y="1431596"/>
            <a:ext cx="1528428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39813" y="1431596"/>
            <a:ext cx="1528428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产品页面调整完成，借款入口保持云卡，确认科技平台改动点。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289322" y="180591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9322" y="1805918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借还款边界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981373" y="1805918"/>
            <a:ext cx="556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1373" y="1805918"/>
            <a:ext cx="556487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30" name="Shape 27"/>
          <p:cNvSpPr/>
          <p:nvPr/>
        </p:nvSpPr>
        <p:spPr>
          <a:xfrm>
            <a:off x="1537860" y="1805918"/>
            <a:ext cx="153038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37860" y="1805918"/>
            <a:ext cx="153038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统一口径：云卡借款、艾博生还款、第三方跳转艾博生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3178969" y="535781"/>
            <a:ext cx="2786063" cy="269677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33" name="Text 30"/>
          <p:cNvSpPr/>
          <p:nvPr/>
        </p:nvSpPr>
        <p:spPr>
          <a:xfrm>
            <a:off x="3178969" y="535781"/>
            <a:ext cx="2786063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二、研发</a:t>
            </a:r>
            <a:endParaRPr lang="en-US" sz="734" dirty="0"/>
          </a:p>
        </p:txBody>
      </p:sp>
      <p:sp>
        <p:nvSpPr>
          <p:cNvPr id="34" name="Shape 31"/>
          <p:cNvSpPr/>
          <p:nvPr/>
        </p:nvSpPr>
        <p:spPr>
          <a:xfrm>
            <a:off x="3182541" y="809030"/>
            <a:ext cx="694730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182541" y="809030"/>
            <a:ext cx="694730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</a:t>
            </a:r>
            <a:endParaRPr lang="en-US" sz="634" dirty="0"/>
          </a:p>
        </p:txBody>
      </p:sp>
      <p:sp>
        <p:nvSpPr>
          <p:cNvPr id="36" name="Shape 33"/>
          <p:cNvSpPr/>
          <p:nvPr/>
        </p:nvSpPr>
        <p:spPr>
          <a:xfrm>
            <a:off x="3877270" y="809030"/>
            <a:ext cx="555761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77270" y="809030"/>
            <a:ext cx="555761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634" dirty="0"/>
          </a:p>
        </p:txBody>
      </p:sp>
      <p:sp>
        <p:nvSpPr>
          <p:cNvPr id="38" name="Shape 35"/>
          <p:cNvSpPr/>
          <p:nvPr/>
        </p:nvSpPr>
        <p:spPr>
          <a:xfrm>
            <a:off x="4433032" y="809030"/>
            <a:ext cx="1528428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33032" y="809030"/>
            <a:ext cx="1528428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关键节点 / 进展</a:t>
            </a:r>
            <a:endParaRPr lang="en-US" sz="634" dirty="0"/>
          </a:p>
        </p:txBody>
      </p:sp>
      <p:sp>
        <p:nvSpPr>
          <p:cNvPr id="40" name="Shape 37"/>
          <p:cNvSpPr/>
          <p:nvPr/>
        </p:nvSpPr>
        <p:spPr>
          <a:xfrm>
            <a:off x="3182541" y="1057275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82541" y="1057275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齐为联调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3877270" y="1057275"/>
            <a:ext cx="55576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77270" y="1057275"/>
            <a:ext cx="55576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2E7D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</a:t>
            </a:r>
            <a:endParaRPr lang="en-US" sz="634" dirty="0"/>
          </a:p>
        </p:txBody>
      </p:sp>
      <p:sp>
        <p:nvSpPr>
          <p:cNvPr id="44" name="Shape 41"/>
          <p:cNvSpPr/>
          <p:nvPr/>
        </p:nvSpPr>
        <p:spPr>
          <a:xfrm>
            <a:off x="4433032" y="1057275"/>
            <a:ext cx="1528428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33032" y="1057275"/>
            <a:ext cx="1528428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三条主动接口完成真实联调，主链从“本地跑通”推进到“真实验证”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3182541" y="1431596"/>
            <a:ext cx="694730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82541" y="1431596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支付协议号</a:t>
            </a:r>
            <a:endParaRPr lang="en-US" sz="674" dirty="0"/>
          </a:p>
        </p:txBody>
      </p:sp>
      <p:sp>
        <p:nvSpPr>
          <p:cNvPr id="48" name="Shape 45"/>
          <p:cNvSpPr/>
          <p:nvPr/>
        </p:nvSpPr>
        <p:spPr>
          <a:xfrm>
            <a:off x="3877270" y="1431596"/>
            <a:ext cx="555761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77270" y="1431596"/>
            <a:ext cx="55576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50" name="Shape 47"/>
          <p:cNvSpPr/>
          <p:nvPr/>
        </p:nvSpPr>
        <p:spPr>
          <a:xfrm>
            <a:off x="4433032" y="1431596"/>
            <a:ext cx="1528428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433032" y="1431596"/>
            <a:ext cx="1528428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形成“真实协议号优先”阶段方案，以通联为基线</a:t>
            </a:r>
            <a:endParaRPr lang="en-US" sz="674" dirty="0"/>
          </a:p>
        </p:txBody>
      </p:sp>
      <p:sp>
        <p:nvSpPr>
          <p:cNvPr id="52" name="Shape 49"/>
          <p:cNvSpPr/>
          <p:nvPr/>
        </p:nvSpPr>
        <p:spPr>
          <a:xfrm>
            <a:off x="3182541" y="1805918"/>
            <a:ext cx="694730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182541" y="1805918"/>
            <a:ext cx="694730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回调</a:t>
            </a:r>
            <a:endParaRPr lang="en-US" sz="674" dirty="0"/>
          </a:p>
        </p:txBody>
      </p:sp>
      <p:sp>
        <p:nvSpPr>
          <p:cNvPr id="54" name="Shape 51"/>
          <p:cNvSpPr/>
          <p:nvPr/>
        </p:nvSpPr>
        <p:spPr>
          <a:xfrm>
            <a:off x="3874591" y="1805918"/>
            <a:ext cx="556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874591" y="1805918"/>
            <a:ext cx="556487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56" name="Shape 53"/>
          <p:cNvSpPr/>
          <p:nvPr/>
        </p:nvSpPr>
        <p:spPr>
          <a:xfrm>
            <a:off x="4431078" y="1805918"/>
            <a:ext cx="1530381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431078" y="1805918"/>
            <a:ext cx="1530381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本地回调主链准备完成，公网测试域名及白名单策略待确认</a:t>
            </a:r>
            <a:endParaRPr lang="en-US" sz="674" dirty="0"/>
          </a:p>
        </p:txBody>
      </p:sp>
      <p:sp>
        <p:nvSpPr>
          <p:cNvPr id="58" name="Shape 55"/>
          <p:cNvSpPr/>
          <p:nvPr/>
        </p:nvSpPr>
        <p:spPr>
          <a:xfrm>
            <a:off x="6072188" y="535781"/>
            <a:ext cx="2786063" cy="269677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59" name="Text 56"/>
          <p:cNvSpPr/>
          <p:nvPr/>
        </p:nvSpPr>
        <p:spPr>
          <a:xfrm>
            <a:off x="6072188" y="535781"/>
            <a:ext cx="2786063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spc="1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三、商务（供应商 · 法务 · 其它）</a:t>
            </a:r>
            <a:endParaRPr lang="en-US" sz="734" dirty="0"/>
          </a:p>
        </p:txBody>
      </p:sp>
      <p:sp>
        <p:nvSpPr>
          <p:cNvPr id="60" name="Shape 57"/>
          <p:cNvSpPr/>
          <p:nvPr/>
        </p:nvSpPr>
        <p:spPr>
          <a:xfrm>
            <a:off x="6075759" y="809030"/>
            <a:ext cx="778083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75759" y="809030"/>
            <a:ext cx="778083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事项</a:t>
            </a:r>
            <a:endParaRPr lang="en-US" sz="634" dirty="0"/>
          </a:p>
        </p:txBody>
      </p:sp>
      <p:sp>
        <p:nvSpPr>
          <p:cNvPr id="62" name="Shape 59"/>
          <p:cNvSpPr/>
          <p:nvPr/>
        </p:nvSpPr>
        <p:spPr>
          <a:xfrm>
            <a:off x="6853842" y="809030"/>
            <a:ext cx="611349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853842" y="809030"/>
            <a:ext cx="611349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634" dirty="0"/>
          </a:p>
        </p:txBody>
      </p:sp>
      <p:sp>
        <p:nvSpPr>
          <p:cNvPr id="64" name="Shape 61"/>
          <p:cNvSpPr/>
          <p:nvPr/>
        </p:nvSpPr>
        <p:spPr>
          <a:xfrm>
            <a:off x="7465191" y="809030"/>
            <a:ext cx="1389487" cy="255389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465191" y="809030"/>
            <a:ext cx="1389487" cy="255389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关键节点 / 进展</a:t>
            </a:r>
            <a:endParaRPr lang="en-US" sz="634" dirty="0"/>
          </a:p>
        </p:txBody>
      </p:sp>
      <p:sp>
        <p:nvSpPr>
          <p:cNvPr id="66" name="Shape 63"/>
          <p:cNvSpPr/>
          <p:nvPr/>
        </p:nvSpPr>
        <p:spPr>
          <a:xfrm>
            <a:off x="6075759" y="1057275"/>
            <a:ext cx="778083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075759" y="1057275"/>
            <a:ext cx="778083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齐为合同</a:t>
            </a:r>
            <a:endParaRPr lang="en-US" sz="674" dirty="0"/>
          </a:p>
        </p:txBody>
      </p:sp>
      <p:sp>
        <p:nvSpPr>
          <p:cNvPr id="68" name="Shape 65"/>
          <p:cNvSpPr/>
          <p:nvPr/>
        </p:nvSpPr>
        <p:spPr>
          <a:xfrm>
            <a:off x="6853842" y="1057275"/>
            <a:ext cx="611349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853842" y="1057275"/>
            <a:ext cx="611349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70" name="Shape 67"/>
          <p:cNvSpPr/>
          <p:nvPr/>
        </p:nvSpPr>
        <p:spPr>
          <a:xfrm>
            <a:off x="7465191" y="1057275"/>
            <a:ext cx="1389487" cy="381465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465191" y="1057275"/>
            <a:ext cx="1389487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艾博生与齐为合作合同对方已盖章</a:t>
            </a:r>
            <a:endParaRPr lang="en-US" sz="674" dirty="0"/>
          </a:p>
        </p:txBody>
      </p:sp>
      <p:sp>
        <p:nvSpPr>
          <p:cNvPr id="72" name="Shape 69"/>
          <p:cNvSpPr/>
          <p:nvPr/>
        </p:nvSpPr>
        <p:spPr>
          <a:xfrm>
            <a:off x="6075759" y="1431596"/>
            <a:ext cx="778083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075759" y="1431596"/>
            <a:ext cx="778083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电子签章</a:t>
            </a:r>
            <a:endParaRPr lang="en-US" sz="674" dirty="0"/>
          </a:p>
        </p:txBody>
      </p:sp>
      <p:sp>
        <p:nvSpPr>
          <p:cNvPr id="74" name="Shape 71"/>
          <p:cNvSpPr/>
          <p:nvPr/>
        </p:nvSpPr>
        <p:spPr>
          <a:xfrm>
            <a:off x="6853842" y="1431596"/>
            <a:ext cx="611349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53842" y="1431596"/>
            <a:ext cx="611349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51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推进中</a:t>
            </a:r>
            <a:endParaRPr lang="en-US" sz="634" dirty="0"/>
          </a:p>
        </p:txBody>
      </p:sp>
      <p:sp>
        <p:nvSpPr>
          <p:cNvPr id="76" name="Shape 73"/>
          <p:cNvSpPr/>
          <p:nvPr/>
        </p:nvSpPr>
        <p:spPr>
          <a:xfrm>
            <a:off x="7465191" y="1431596"/>
            <a:ext cx="1389487" cy="381465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465191" y="1431596"/>
            <a:ext cx="1389487" cy="38146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明确切换法大大，费用谈妥，深圳研究院法务审核中</a:t>
            </a:r>
            <a:endParaRPr lang="en-US" sz="674" dirty="0"/>
          </a:p>
        </p:txBody>
      </p:sp>
      <p:sp>
        <p:nvSpPr>
          <p:cNvPr id="78" name="Shape 75"/>
          <p:cNvSpPr/>
          <p:nvPr/>
        </p:nvSpPr>
        <p:spPr>
          <a:xfrm>
            <a:off x="6075759" y="1805918"/>
            <a:ext cx="778083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075759" y="1805918"/>
            <a:ext cx="778083" cy="51147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支付渠道</a:t>
            </a:r>
            <a:endParaRPr lang="en-US" sz="674" dirty="0"/>
          </a:p>
        </p:txBody>
      </p:sp>
      <p:sp>
        <p:nvSpPr>
          <p:cNvPr id="80" name="Shape 77"/>
          <p:cNvSpPr/>
          <p:nvPr/>
        </p:nvSpPr>
        <p:spPr>
          <a:xfrm>
            <a:off x="6851275" y="1805918"/>
            <a:ext cx="612130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851275" y="1805918"/>
            <a:ext cx="612130" cy="51147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32F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有风险</a:t>
            </a:r>
            <a:endParaRPr lang="en-US" sz="634" dirty="0"/>
          </a:p>
        </p:txBody>
      </p:sp>
      <p:sp>
        <p:nvSpPr>
          <p:cNvPr id="82" name="Shape 79"/>
          <p:cNvSpPr/>
          <p:nvPr/>
        </p:nvSpPr>
        <p:spPr>
          <a:xfrm>
            <a:off x="7463405" y="1805918"/>
            <a:ext cx="1391273" cy="511476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463405" y="1805918"/>
            <a:ext cx="1391273" cy="51147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通联不再准入小平台，齐为建议切换盛付通，需尽快确认正式渠道</a:t>
            </a:r>
            <a:endParaRPr lang="en-US" sz="674" dirty="0"/>
          </a:p>
        </p:txBody>
      </p:sp>
      <p:sp>
        <p:nvSpPr>
          <p:cNvPr id="84" name="Shape 81"/>
          <p:cNvSpPr/>
          <p:nvPr/>
        </p:nvSpPr>
        <p:spPr>
          <a:xfrm>
            <a:off x="285750" y="3467956"/>
            <a:ext cx="8572500" cy="448605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5" name="Shape 82"/>
          <p:cNvSpPr/>
          <p:nvPr/>
        </p:nvSpPr>
        <p:spPr>
          <a:xfrm>
            <a:off x="285750" y="3467956"/>
            <a:ext cx="35719" cy="448605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8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582256"/>
            <a:ext cx="100013" cy="100013"/>
          </a:xfrm>
          <a:prstGeom prst="rect">
            <a:avLst/>
          </a:prstGeom>
        </p:spPr>
      </p:pic>
      <p:sp>
        <p:nvSpPr>
          <p:cNvPr id="87" name="Text 83"/>
          <p:cNvSpPr/>
          <p:nvPr/>
        </p:nvSpPr>
        <p:spPr>
          <a:xfrm>
            <a:off x="535781" y="3578684"/>
            <a:ext cx="5278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 &amp; 诉求</a:t>
            </a:r>
            <a:endParaRPr lang="en-US" sz="683" dirty="0"/>
          </a:p>
        </p:txBody>
      </p:sp>
      <p:sp>
        <p:nvSpPr>
          <p:cNvPr id="88" name="Text 84"/>
          <p:cNvSpPr/>
          <p:nvPr/>
        </p:nvSpPr>
        <p:spPr>
          <a:xfrm>
            <a:off x="1206512" y="3539393"/>
            <a:ext cx="5243513" cy="131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【科技平台】当前仅提供标准接口文档，尚未提供真实调用地址、channelId、登录态能力与联调参数。</a:t>
            </a:r>
            <a:endParaRPr lang="en-US" sz="674" dirty="0"/>
          </a:p>
        </p:txBody>
      </p:sp>
      <p:sp>
        <p:nvSpPr>
          <p:cNvPr id="89" name="Text 85"/>
          <p:cNvSpPr/>
          <p:nvPr/>
        </p:nvSpPr>
        <p:spPr>
          <a:xfrm>
            <a:off x="1206512" y="3713690"/>
            <a:ext cx="5243513" cy="1314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【支付渠道】最终方案尚未拍板，真实的支付协议号来源与正式接入路径仍需外部协调确认，可能影响后续生产化切换节奏。</a:t>
            </a:r>
            <a:endParaRPr lang="en-US" sz="674" dirty="0"/>
          </a:p>
        </p:txBody>
      </p:sp>
      <p:sp>
        <p:nvSpPr>
          <p:cNvPr id="90" name="Shape 86"/>
          <p:cNvSpPr/>
          <p:nvPr/>
        </p:nvSpPr>
        <p:spPr>
          <a:xfrm>
            <a:off x="285750" y="4023717"/>
            <a:ext cx="8572500" cy="76259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147840"/>
            <a:ext cx="94655" cy="107156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580430" y="4123730"/>
            <a:ext cx="857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下周核心计划提炼</a:t>
            </a:r>
            <a:endParaRPr lang="en-US" sz="734" dirty="0"/>
          </a:p>
        </p:txBody>
      </p:sp>
      <p:pic>
        <p:nvPicPr>
          <p:cNvPr id="9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364831"/>
            <a:ext cx="85725" cy="85725"/>
          </a:xfrm>
          <a:prstGeom prst="rect">
            <a:avLst/>
          </a:prstGeom>
        </p:spPr>
      </p:pic>
      <p:sp>
        <p:nvSpPr>
          <p:cNvPr id="94" name="Text 88"/>
          <p:cNvSpPr/>
          <p:nvPr/>
        </p:nvSpPr>
        <p:spPr>
          <a:xfrm>
            <a:off x="571500" y="4336256"/>
            <a:ext cx="36683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产品与法务：</a:t>
            </a:r>
            <a:r>
              <a:rPr lang="en-US" sz="634" b="1" dirty="0">
                <a:solidFill>
                  <a:srgbClr val="FF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确认最终产品页面交互流程（待汇报）；</a:t>
            </a:r>
            <a:r>
              <a:rPr lang="en-US" sz="674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推进法大大、齐为、律所合同签署。</a:t>
            </a:r>
            <a:endParaRPr lang="en-US" sz="634" dirty="0"/>
          </a:p>
        </p:txBody>
      </p:sp>
      <p:pic>
        <p:nvPicPr>
          <p:cNvPr id="9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546997"/>
            <a:ext cx="85725" cy="85725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571500" y="4518422"/>
            <a:ext cx="21359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商务推进：</a:t>
            </a:r>
            <a:r>
              <a:rPr lang="en-US" sz="674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与盛付通继续勾兑商户准入与合作路径。</a:t>
            </a:r>
            <a:endParaRPr lang="en-US" sz="634" dirty="0"/>
          </a:p>
        </p:txBody>
      </p:sp>
      <p:pic>
        <p:nvPicPr>
          <p:cNvPr id="9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4364831"/>
            <a:ext cx="85725" cy="85725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4822031" y="4336256"/>
            <a:ext cx="23217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研发与交付：</a:t>
            </a:r>
            <a:r>
              <a:rPr lang="en-US" sz="634" b="1" dirty="0">
                <a:solidFill>
                  <a:srgbClr val="FF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与科技平台、支付、电子签章服务对接流程</a:t>
            </a:r>
            <a:endParaRPr lang="en-US" sz="634" dirty="0"/>
          </a:p>
        </p:txBody>
      </p:sp>
      <p:sp>
        <p:nvSpPr>
          <p:cNvPr id="99" name="Shape 9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10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4974729"/>
            <a:ext cx="92869" cy="92869"/>
          </a:xfrm>
          <a:prstGeom prst="rect">
            <a:avLst/>
          </a:prstGeom>
        </p:spPr>
      </p:pic>
      <p:sp>
        <p:nvSpPr>
          <p:cNvPr id="101" name="Text 92"/>
          <p:cNvSpPr/>
          <p:nvPr/>
        </p:nvSpPr>
        <p:spPr>
          <a:xfrm>
            <a:off x="435769" y="4972943"/>
            <a:ext cx="12383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小花科技 XIAOHUA FINTECH</a:t>
            </a:r>
            <a:endParaRPr lang="en-US" sz="674" dirty="0"/>
          </a:p>
        </p:txBody>
      </p:sp>
      <p:sp>
        <p:nvSpPr>
          <p:cNvPr id="102" name="Text 93"/>
          <p:cNvSpPr/>
          <p:nvPr/>
        </p:nvSpPr>
        <p:spPr>
          <a:xfrm>
            <a:off x="8569235" y="4947940"/>
            <a:ext cx="28901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 页</a:t>
            </a:r>
            <a:endParaRPr lang="en-US" sz="67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627"/>
            <a:ext cx="37719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本周技术进展总结：核心链路推进与外部依赖卡点</a:t>
            </a:r>
            <a:endParaRPr lang="en-US" sz="1193" dirty="0"/>
          </a:p>
        </p:txBody>
      </p:sp>
      <p:sp>
        <p:nvSpPr>
          <p:cNvPr id="4" name="Shape 1"/>
          <p:cNvSpPr/>
          <p:nvPr/>
        </p:nvSpPr>
        <p:spPr>
          <a:xfrm>
            <a:off x="292894" y="578644"/>
            <a:ext cx="3817358" cy="307181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675084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219" y="650081"/>
            <a:ext cx="1257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一、齐为联调与主链推进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292894" y="885825"/>
            <a:ext cx="3817358" cy="1457325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94" y="1028700"/>
            <a:ext cx="85725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4356" y="1021556"/>
            <a:ext cx="9001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主动接口真实联调：</a:t>
            </a:r>
            <a:endParaRPr lang="en-US" sz="683" dirty="0"/>
          </a:p>
        </p:txBody>
      </p:sp>
      <p:sp>
        <p:nvSpPr>
          <p:cNvPr id="10" name="Text 5"/>
          <p:cNvSpPr/>
          <p:nvPr/>
        </p:nvSpPr>
        <p:spPr>
          <a:xfrm>
            <a:off x="1464469" y="1007269"/>
            <a:ext cx="840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abs.push.order</a:t>
            </a:r>
            <a:endParaRPr lang="en-US" sz="727" dirty="0"/>
          </a:p>
        </p:txBody>
      </p:sp>
      <p:sp>
        <p:nvSpPr>
          <p:cNvPr id="11" name="Text 6"/>
          <p:cNvSpPr/>
          <p:nvPr/>
        </p:nvSpPr>
        <p:spPr>
          <a:xfrm>
            <a:off x="2304585" y="1021556"/>
            <a:ext cx="1000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</a:t>
            </a:r>
            <a:endParaRPr lang="en-US" sz="727" dirty="0"/>
          </a:p>
        </p:txBody>
      </p:sp>
      <p:sp>
        <p:nvSpPr>
          <p:cNvPr id="12" name="Text 7"/>
          <p:cNvSpPr/>
          <p:nvPr/>
        </p:nvSpPr>
        <p:spPr>
          <a:xfrm>
            <a:off x="2404597" y="1007269"/>
            <a:ext cx="7801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abs.token.get</a:t>
            </a:r>
            <a:endParaRPr lang="en-US" sz="727" dirty="0"/>
          </a:p>
        </p:txBody>
      </p:sp>
      <p:sp>
        <p:nvSpPr>
          <p:cNvPr id="13" name="Text 8"/>
          <p:cNvSpPr/>
          <p:nvPr/>
        </p:nvSpPr>
        <p:spPr>
          <a:xfrm>
            <a:off x="3184717" y="1021556"/>
            <a:ext cx="1000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、</a:t>
            </a:r>
            <a:endParaRPr lang="en-US" sz="727" dirty="0"/>
          </a:p>
        </p:txBody>
      </p:sp>
      <p:sp>
        <p:nvSpPr>
          <p:cNvPr id="14" name="Text 9"/>
          <p:cNvSpPr/>
          <p:nvPr/>
        </p:nvSpPr>
        <p:spPr>
          <a:xfrm>
            <a:off x="564356" y="1160859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abs.lending.notify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1644514" y="1175147"/>
            <a:ext cx="21280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三条主动接口均已完成至少一轮真实联调，标准</a:t>
            </a:r>
            <a:endParaRPr lang="en-US" sz="727" dirty="0"/>
          </a:p>
        </p:txBody>
      </p:sp>
      <p:sp>
        <p:nvSpPr>
          <p:cNvPr id="16" name="Text 11"/>
          <p:cNvSpPr/>
          <p:nvPr/>
        </p:nvSpPr>
        <p:spPr>
          <a:xfrm>
            <a:off x="564356" y="1325166"/>
            <a:ext cx="138725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 协议与业务样例已打通。</a:t>
            </a:r>
            <a:endParaRPr lang="en-US" sz="727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4" y="1571625"/>
            <a:ext cx="85725" cy="857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4356" y="1543050"/>
            <a:ext cx="343159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支付协议号边界收口：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已确认根因是 payProtocolNo 错误；已形成“真实协议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号优先”的阶段性方案，当前仍以通联为阶段性假设基线。</a:t>
            </a:r>
            <a:endParaRPr lang="en-US" sz="683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480000">
            <a:off x="407190" y="1957384"/>
            <a:ext cx="85732" cy="8573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4356" y="1928813"/>
            <a:ext cx="343159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入站回调联调准备：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本地回调主链、签名校验、幂等处理和启动模板已准备完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成。</a:t>
            </a:r>
            <a:endParaRPr lang="en-US" sz="683" dirty="0"/>
          </a:p>
        </p:txBody>
      </p:sp>
      <p:sp>
        <p:nvSpPr>
          <p:cNvPr id="21" name="Shape 14"/>
          <p:cNvSpPr/>
          <p:nvPr/>
        </p:nvSpPr>
        <p:spPr>
          <a:xfrm>
            <a:off x="292894" y="2500313"/>
            <a:ext cx="3817358" cy="307181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94" y="2596753"/>
            <a:ext cx="142875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07219" y="2571750"/>
            <a:ext cx="179693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二、AiCoding 本周思考与价值提炼</a:t>
            </a:r>
            <a:endParaRPr lang="en-US" sz="784" dirty="0"/>
          </a:p>
        </p:txBody>
      </p:sp>
      <p:sp>
        <p:nvSpPr>
          <p:cNvPr id="24" name="Shape 16"/>
          <p:cNvSpPr/>
          <p:nvPr/>
        </p:nvSpPr>
        <p:spPr>
          <a:xfrm>
            <a:off x="292894" y="2807494"/>
            <a:ext cx="3817358" cy="150554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17"/>
          <p:cNvSpPr/>
          <p:nvPr/>
        </p:nvSpPr>
        <p:spPr>
          <a:xfrm>
            <a:off x="407194" y="2921794"/>
            <a:ext cx="358875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核心结论：AI 已从编码辅助工具升级为项目推进加速器</a:t>
            </a:r>
            <a:endParaRPr lang="en-US" sz="634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94" y="3155752"/>
            <a:ext cx="64294" cy="857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2925" y="3127177"/>
            <a:ext cx="34530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加速问题收敛：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在齐为联调中，帮助将问题从“现象描述”快速收敛到“根因判断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+下一动作”，提升联调效率。</a:t>
            </a:r>
            <a:endParaRPr lang="en-US" sz="683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194" y="3541514"/>
            <a:ext cx="85725" cy="857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64356" y="3512939"/>
            <a:ext cx="343159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统一认知与协同：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快速生成对外确认清单、沟通口径和周报，降低重复沟通成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本，沉淀更系统的文档。</a:t>
            </a:r>
            <a:endParaRPr lang="en-US" sz="683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94" y="3927277"/>
            <a:ext cx="64294" cy="8572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42925" y="3898702"/>
            <a:ext cx="34530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管理层启发：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最佳使用方式为“人拍板，AI 加速”。在多外部依赖项目中，AI 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对管理效率的提升不亚于编码效率。</a:t>
            </a:r>
            <a:endParaRPr lang="en-US" sz="683" dirty="0"/>
          </a:p>
        </p:txBody>
      </p:sp>
      <p:sp>
        <p:nvSpPr>
          <p:cNvPr id="32" name="Shape 21"/>
          <p:cNvSpPr/>
          <p:nvPr/>
        </p:nvSpPr>
        <p:spPr>
          <a:xfrm>
            <a:off x="4267414" y="578644"/>
            <a:ext cx="4583692" cy="307181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714" y="675084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553164" y="650081"/>
            <a:ext cx="1371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三、科技平台接口总体情况</a:t>
            </a:r>
            <a:endParaRPr lang="en-US" sz="784" dirty="0"/>
          </a:p>
        </p:txBody>
      </p:sp>
      <p:sp>
        <p:nvSpPr>
          <p:cNvPr id="35" name="Shape 23"/>
          <p:cNvSpPr/>
          <p:nvPr/>
        </p:nvSpPr>
        <p:spPr>
          <a:xfrm>
            <a:off x="4267414" y="885825"/>
            <a:ext cx="4583692" cy="266378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24"/>
          <p:cNvSpPr/>
          <p:nvPr/>
        </p:nvSpPr>
        <p:spPr>
          <a:xfrm>
            <a:off x="4267414" y="885825"/>
            <a:ext cx="4583692" cy="312539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7" name="Shape 25"/>
          <p:cNvSpPr/>
          <p:nvPr/>
        </p:nvSpPr>
        <p:spPr>
          <a:xfrm>
            <a:off x="4267414" y="1191220"/>
            <a:ext cx="4583692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714" y="998339"/>
            <a:ext cx="92869" cy="92869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500395" y="996553"/>
            <a:ext cx="46434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32F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卡点说明：</a:t>
            </a:r>
            <a:endParaRPr lang="en-US" sz="634" dirty="0"/>
          </a:p>
        </p:txBody>
      </p:sp>
      <p:sp>
        <p:nvSpPr>
          <p:cNvPr id="40" name="Text 27"/>
          <p:cNvSpPr/>
          <p:nvPr/>
        </p:nvSpPr>
        <p:spPr>
          <a:xfrm>
            <a:off x="4964739" y="996553"/>
            <a:ext cx="36789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D32F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因科技平台仅提供接口标准文档，未提供真实调用地址和 channelId，尚未开始真实联调。</a:t>
            </a:r>
            <a:endParaRPr lang="en-US" sz="674" dirty="0"/>
          </a:p>
        </p:txBody>
      </p:sp>
      <p:sp>
        <p:nvSpPr>
          <p:cNvPr id="41" name="Shape 28"/>
          <p:cNvSpPr/>
          <p:nvPr/>
        </p:nvSpPr>
        <p:spPr>
          <a:xfrm>
            <a:off x="4267414" y="1191220"/>
            <a:ext cx="4583692" cy="23369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29"/>
          <p:cNvSpPr/>
          <p:nvPr/>
        </p:nvSpPr>
        <p:spPr>
          <a:xfrm>
            <a:off x="4270986" y="1194792"/>
            <a:ext cx="1144116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4270986" y="1194792"/>
            <a:ext cx="1144116" cy="28396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</a:t>
            </a:r>
            <a:endParaRPr lang="en-US" sz="634" dirty="0"/>
          </a:p>
        </p:txBody>
      </p:sp>
      <p:sp>
        <p:nvSpPr>
          <p:cNvPr id="44" name="Shape 31"/>
          <p:cNvSpPr/>
          <p:nvPr/>
        </p:nvSpPr>
        <p:spPr>
          <a:xfrm>
            <a:off x="5415102" y="1194792"/>
            <a:ext cx="686470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5415102" y="1194792"/>
            <a:ext cx="686470" cy="28396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634" dirty="0"/>
          </a:p>
        </p:txBody>
      </p:sp>
      <p:sp>
        <p:nvSpPr>
          <p:cNvPr id="46" name="Shape 33"/>
          <p:cNvSpPr/>
          <p:nvPr/>
        </p:nvSpPr>
        <p:spPr>
          <a:xfrm>
            <a:off x="6101572" y="1194792"/>
            <a:ext cx="2745963" cy="283964"/>
          </a:xfrm>
          <a:prstGeom prst="rect">
            <a:avLst/>
          </a:prstGeom>
          <a:solidFill>
            <a:srgbClr val="FFC000"/>
          </a:solidFill>
          <a:ln w="9144">
            <a:solidFill>
              <a:srgbClr val="E0D0A0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6101572" y="1194792"/>
            <a:ext cx="2745963" cy="28396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</a:t>
            </a:r>
            <a:endParaRPr lang="en-US" sz="634" dirty="0"/>
          </a:p>
        </p:txBody>
      </p:sp>
      <p:sp>
        <p:nvSpPr>
          <p:cNvPr id="48" name="Shape 35"/>
          <p:cNvSpPr/>
          <p:nvPr/>
        </p:nvSpPr>
        <p:spPr>
          <a:xfrm>
            <a:off x="4270986" y="1471613"/>
            <a:ext cx="1144116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4270986" y="1471613"/>
            <a:ext cx="1144116" cy="41004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内部业务骨架</a:t>
            </a:r>
            <a:endParaRPr lang="en-US" sz="634" dirty="0"/>
          </a:p>
        </p:txBody>
      </p:sp>
      <p:sp>
        <p:nvSpPr>
          <p:cNvPr id="50" name="Shape 37"/>
          <p:cNvSpPr/>
          <p:nvPr/>
        </p:nvSpPr>
        <p:spPr>
          <a:xfrm>
            <a:off x="5415102" y="1471613"/>
            <a:ext cx="686470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5627963" y="1586275"/>
            <a:ext cx="257175" cy="177143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2" name="Text 39"/>
          <p:cNvSpPr/>
          <p:nvPr/>
        </p:nvSpPr>
        <p:spPr>
          <a:xfrm>
            <a:off x="5627963" y="1586275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</a:t>
            </a:r>
            <a:endParaRPr lang="en-US" sz="584" dirty="0"/>
          </a:p>
        </p:txBody>
      </p:sp>
      <p:sp>
        <p:nvSpPr>
          <p:cNvPr id="53" name="Shape 40"/>
          <p:cNvSpPr/>
          <p:nvPr/>
        </p:nvSpPr>
        <p:spPr>
          <a:xfrm>
            <a:off x="6101572" y="1471613"/>
            <a:ext cx="2745963" cy="41004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4" name="Text 41"/>
          <p:cNvSpPr/>
          <p:nvPr/>
        </p:nvSpPr>
        <p:spPr>
          <a:xfrm>
            <a:off x="6101572" y="1471613"/>
            <a:ext cx="2745963" cy="41004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订单接收、试算页、申请提交、放款/还款回调处理、状态流转、持久化已具备</a:t>
            </a:r>
            <a:endParaRPr lang="en-US" sz="674" dirty="0"/>
          </a:p>
        </p:txBody>
      </p:sp>
      <p:sp>
        <p:nvSpPr>
          <p:cNvPr id="55" name="Shape 42"/>
          <p:cNvSpPr/>
          <p:nvPr/>
        </p:nvSpPr>
        <p:spPr>
          <a:xfrm>
            <a:off x="4270986" y="1874509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6" name="Text 43"/>
          <p:cNvSpPr/>
          <p:nvPr/>
        </p:nvSpPr>
        <p:spPr>
          <a:xfrm>
            <a:off x="4270986" y="1874509"/>
            <a:ext cx="1144116" cy="327161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标准接口适配</a:t>
            </a:r>
            <a:endParaRPr lang="en-US" sz="634" dirty="0"/>
          </a:p>
        </p:txBody>
      </p:sp>
      <p:sp>
        <p:nvSpPr>
          <p:cNvPr id="57" name="Shape 44"/>
          <p:cNvSpPr/>
          <p:nvPr/>
        </p:nvSpPr>
        <p:spPr>
          <a:xfrm>
            <a:off x="5415102" y="1874509"/>
            <a:ext cx="68647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58" name="Shape 45"/>
          <p:cNvSpPr/>
          <p:nvPr/>
        </p:nvSpPr>
        <p:spPr>
          <a:xfrm>
            <a:off x="5627963" y="1945946"/>
            <a:ext cx="257175" cy="177143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59" name="Text 46"/>
          <p:cNvSpPr/>
          <p:nvPr/>
        </p:nvSpPr>
        <p:spPr>
          <a:xfrm>
            <a:off x="5627963" y="1945946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</a:t>
            </a:r>
            <a:endParaRPr lang="en-US" sz="584" dirty="0"/>
          </a:p>
        </p:txBody>
      </p:sp>
      <p:sp>
        <p:nvSpPr>
          <p:cNvPr id="60" name="Shape 47"/>
          <p:cNvSpPr/>
          <p:nvPr/>
        </p:nvSpPr>
        <p:spPr>
          <a:xfrm>
            <a:off x="6101572" y="1874509"/>
            <a:ext cx="2745963" cy="323590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1" name="Text 48"/>
          <p:cNvSpPr/>
          <p:nvPr/>
        </p:nvSpPr>
        <p:spPr>
          <a:xfrm>
            <a:off x="6101572" y="1874509"/>
            <a:ext cx="2745963" cy="32359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未按文档的 channelId + sign + version + AES param 协议实现</a:t>
            </a:r>
            <a:endParaRPr lang="en-US" sz="674" dirty="0"/>
          </a:p>
        </p:txBody>
      </p:sp>
      <p:sp>
        <p:nvSpPr>
          <p:cNvPr id="62" name="Shape 49"/>
          <p:cNvSpPr/>
          <p:nvPr/>
        </p:nvSpPr>
        <p:spPr>
          <a:xfrm>
            <a:off x="4270986" y="2194527"/>
            <a:ext cx="1144116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4270986" y="2194527"/>
            <a:ext cx="1144116" cy="327161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外部真实调用</a:t>
            </a:r>
            <a:endParaRPr lang="en-US" sz="634" dirty="0"/>
          </a:p>
        </p:txBody>
      </p:sp>
      <p:sp>
        <p:nvSpPr>
          <p:cNvPr id="64" name="Shape 51"/>
          <p:cNvSpPr/>
          <p:nvPr/>
        </p:nvSpPr>
        <p:spPr>
          <a:xfrm>
            <a:off x="5415102" y="2194527"/>
            <a:ext cx="686470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5627963" y="2262392"/>
            <a:ext cx="257175" cy="177143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66" name="Text 53"/>
          <p:cNvSpPr/>
          <p:nvPr/>
        </p:nvSpPr>
        <p:spPr>
          <a:xfrm>
            <a:off x="5627963" y="2262392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</a:t>
            </a:r>
            <a:endParaRPr lang="en-US" sz="584" dirty="0"/>
          </a:p>
        </p:txBody>
      </p:sp>
      <p:sp>
        <p:nvSpPr>
          <p:cNvPr id="67" name="Shape 54"/>
          <p:cNvSpPr/>
          <p:nvPr/>
        </p:nvSpPr>
        <p:spPr>
          <a:xfrm>
            <a:off x="6101572" y="2190955"/>
            <a:ext cx="2745963" cy="32359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68" name="Text 55"/>
          <p:cNvSpPr/>
          <p:nvPr/>
        </p:nvSpPr>
        <p:spPr>
          <a:xfrm>
            <a:off x="6101572" y="2190955"/>
            <a:ext cx="2745963" cy="32359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试算、放款申请暂未开始</a:t>
            </a:r>
            <a:endParaRPr lang="en-US" sz="674" dirty="0"/>
          </a:p>
        </p:txBody>
      </p:sp>
      <p:sp>
        <p:nvSpPr>
          <p:cNvPr id="69" name="Shape 56"/>
          <p:cNvSpPr/>
          <p:nvPr/>
        </p:nvSpPr>
        <p:spPr>
          <a:xfrm>
            <a:off x="4270986" y="2514544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4270986" y="2514544"/>
            <a:ext cx="1144116" cy="327161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回调报文兼容</a:t>
            </a:r>
            <a:endParaRPr lang="en-US" sz="634" dirty="0"/>
          </a:p>
        </p:txBody>
      </p:sp>
      <p:sp>
        <p:nvSpPr>
          <p:cNvPr id="71" name="Shape 58"/>
          <p:cNvSpPr/>
          <p:nvPr/>
        </p:nvSpPr>
        <p:spPr>
          <a:xfrm>
            <a:off x="5415102" y="2514544"/>
            <a:ext cx="68647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5627963" y="2582410"/>
            <a:ext cx="257175" cy="177143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73" name="Text 60"/>
          <p:cNvSpPr/>
          <p:nvPr/>
        </p:nvSpPr>
        <p:spPr>
          <a:xfrm>
            <a:off x="5627963" y="2582410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</a:t>
            </a:r>
            <a:endParaRPr lang="en-US" sz="584" dirty="0"/>
          </a:p>
        </p:txBody>
      </p:sp>
      <p:sp>
        <p:nvSpPr>
          <p:cNvPr id="74" name="Shape 61"/>
          <p:cNvSpPr/>
          <p:nvPr/>
        </p:nvSpPr>
        <p:spPr>
          <a:xfrm>
            <a:off x="6101572" y="2510972"/>
            <a:ext cx="2745963" cy="323590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6101572" y="2510972"/>
            <a:ext cx="2745963" cy="32359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当前回调结构文档 loanInfoNotice / repayInfoNotice 不一致</a:t>
            </a:r>
            <a:endParaRPr lang="en-US" sz="674" dirty="0"/>
          </a:p>
        </p:txBody>
      </p:sp>
      <p:sp>
        <p:nvSpPr>
          <p:cNvPr id="76" name="Shape 63"/>
          <p:cNvSpPr/>
          <p:nvPr/>
        </p:nvSpPr>
        <p:spPr>
          <a:xfrm>
            <a:off x="4270986" y="2834562"/>
            <a:ext cx="1144116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4270986" y="2834562"/>
            <a:ext cx="1144116" cy="327161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联调准备度</a:t>
            </a:r>
            <a:endParaRPr lang="en-US" sz="634" dirty="0"/>
          </a:p>
        </p:txBody>
      </p:sp>
      <p:sp>
        <p:nvSpPr>
          <p:cNvPr id="78" name="Shape 65"/>
          <p:cNvSpPr/>
          <p:nvPr/>
        </p:nvSpPr>
        <p:spPr>
          <a:xfrm>
            <a:off x="5415102" y="2834562"/>
            <a:ext cx="686470" cy="327161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5627963" y="2902427"/>
            <a:ext cx="257175" cy="177143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80" name="Text 67"/>
          <p:cNvSpPr/>
          <p:nvPr/>
        </p:nvSpPr>
        <p:spPr>
          <a:xfrm>
            <a:off x="5627963" y="2902427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</a:t>
            </a:r>
            <a:endParaRPr lang="en-US" sz="584" dirty="0"/>
          </a:p>
        </p:txBody>
      </p:sp>
      <p:sp>
        <p:nvSpPr>
          <p:cNvPr id="81" name="Shape 68"/>
          <p:cNvSpPr/>
          <p:nvPr/>
        </p:nvSpPr>
        <p:spPr>
          <a:xfrm>
            <a:off x="6101572" y="2830990"/>
            <a:ext cx="2745963" cy="323590"/>
          </a:xfrm>
          <a:prstGeom prst="rect">
            <a:avLst/>
          </a:prstGeom>
          <a:solidFill>
            <a:srgbClr val="FFFBF0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2" name="Text 69"/>
          <p:cNvSpPr/>
          <p:nvPr/>
        </p:nvSpPr>
        <p:spPr>
          <a:xfrm>
            <a:off x="6101572" y="2830990"/>
            <a:ext cx="2745963" cy="32359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缺少协议层适配、字段齐套、真实 HTTP 调用、联调测试</a:t>
            </a:r>
            <a:endParaRPr lang="en-US" sz="674" dirty="0"/>
          </a:p>
        </p:txBody>
      </p:sp>
      <p:sp>
        <p:nvSpPr>
          <p:cNvPr id="83" name="Shape 70"/>
          <p:cNvSpPr/>
          <p:nvPr/>
        </p:nvSpPr>
        <p:spPr>
          <a:xfrm>
            <a:off x="4270986" y="3154580"/>
            <a:ext cx="1144116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4" name="Text 71"/>
          <p:cNvSpPr/>
          <p:nvPr/>
        </p:nvSpPr>
        <p:spPr>
          <a:xfrm>
            <a:off x="4270986" y="3154580"/>
            <a:ext cx="1144116" cy="327161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内部演示验证</a:t>
            </a:r>
            <a:endParaRPr lang="en-US" sz="634" dirty="0"/>
          </a:p>
        </p:txBody>
      </p:sp>
      <p:sp>
        <p:nvSpPr>
          <p:cNvPr id="85" name="Shape 72"/>
          <p:cNvSpPr/>
          <p:nvPr/>
        </p:nvSpPr>
        <p:spPr>
          <a:xfrm>
            <a:off x="5412423" y="3154580"/>
            <a:ext cx="687000" cy="327161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6" name="Shape 73"/>
          <p:cNvSpPr/>
          <p:nvPr/>
        </p:nvSpPr>
        <p:spPr>
          <a:xfrm>
            <a:off x="5625536" y="3222445"/>
            <a:ext cx="257175" cy="177143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7" name="Text 74"/>
          <p:cNvSpPr/>
          <p:nvPr/>
        </p:nvSpPr>
        <p:spPr>
          <a:xfrm>
            <a:off x="5625536" y="3222445"/>
            <a:ext cx="257175" cy="17714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</a:t>
            </a:r>
            <a:endParaRPr lang="en-US" sz="584" dirty="0"/>
          </a:p>
        </p:txBody>
      </p:sp>
      <p:sp>
        <p:nvSpPr>
          <p:cNvPr id="88" name="Shape 75"/>
          <p:cNvSpPr/>
          <p:nvPr/>
        </p:nvSpPr>
        <p:spPr>
          <a:xfrm>
            <a:off x="6099423" y="3151008"/>
            <a:ext cx="2748111" cy="320018"/>
          </a:xfrm>
          <a:prstGeom prst="rect">
            <a:avLst/>
          </a:prstGeom>
          <a:solidFill>
            <a:srgbClr val="FFFFFF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89" name="Text 76"/>
          <p:cNvSpPr/>
          <p:nvPr/>
        </p:nvSpPr>
        <p:spPr>
          <a:xfrm>
            <a:off x="6099423" y="3151008"/>
            <a:ext cx="2748111" cy="32001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可用于内部流程演示，但不能作为正式对接版本</a:t>
            </a:r>
            <a:endParaRPr lang="en-US" sz="674" dirty="0"/>
          </a:p>
        </p:txBody>
      </p:sp>
      <p:sp>
        <p:nvSpPr>
          <p:cNvPr id="90" name="Shape 77"/>
          <p:cNvSpPr/>
          <p:nvPr/>
        </p:nvSpPr>
        <p:spPr>
          <a:xfrm>
            <a:off x="4267414" y="3628188"/>
            <a:ext cx="4583692" cy="307181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9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714" y="3724628"/>
            <a:ext cx="100013" cy="114300"/>
          </a:xfrm>
          <a:prstGeom prst="rect">
            <a:avLst/>
          </a:prstGeom>
        </p:spPr>
      </p:pic>
      <p:sp>
        <p:nvSpPr>
          <p:cNvPr id="92" name="Text 78"/>
          <p:cNvSpPr/>
          <p:nvPr/>
        </p:nvSpPr>
        <p:spPr>
          <a:xfrm>
            <a:off x="4538876" y="3699625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四、下周技术计划</a:t>
            </a:r>
            <a:endParaRPr lang="en-US" sz="784" dirty="0"/>
          </a:p>
        </p:txBody>
      </p:sp>
      <p:sp>
        <p:nvSpPr>
          <p:cNvPr id="93" name="Shape 79"/>
          <p:cNvSpPr/>
          <p:nvPr/>
        </p:nvSpPr>
        <p:spPr>
          <a:xfrm>
            <a:off x="4267414" y="3935369"/>
            <a:ext cx="4583692" cy="700088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9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714" y="4078244"/>
            <a:ext cx="75009" cy="85725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4528161" y="4049669"/>
            <a:ext cx="29003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联调环境搭建：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整合第三方测试环境，解决当前联调不便的问题。</a:t>
            </a:r>
            <a:endParaRPr lang="en-US" sz="683" dirty="0"/>
          </a:p>
        </p:txBody>
      </p:sp>
      <p:pic>
        <p:nvPicPr>
          <p:cNvPr id="9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1714" y="4313988"/>
            <a:ext cx="75009" cy="85725"/>
          </a:xfrm>
          <a:prstGeom prst="rect">
            <a:avLst/>
          </a:prstGeom>
        </p:spPr>
      </p:pic>
      <p:sp>
        <p:nvSpPr>
          <p:cNvPr id="97" name="Text 81"/>
          <p:cNvSpPr/>
          <p:nvPr/>
        </p:nvSpPr>
        <p:spPr>
          <a:xfrm>
            <a:off x="4528161" y="4285413"/>
            <a:ext cx="299507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科技平台、电子签章、支付：</a:t>
            </a:r>
            <a:r>
              <a:rPr lang="en-US" sz="727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对接第三方，梳理流程，介入coding。</a:t>
            </a:r>
            <a:endParaRPr lang="en-US" sz="683" dirty="0"/>
          </a:p>
        </p:txBody>
      </p:sp>
      <p:sp>
        <p:nvSpPr>
          <p:cNvPr id="98" name="Shape 8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9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750" y="4974729"/>
            <a:ext cx="92869" cy="92869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435769" y="4972943"/>
            <a:ext cx="12383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小花科技 XIAOHUA FINTECH</a:t>
            </a:r>
            <a:endParaRPr lang="en-US" sz="674" dirty="0"/>
          </a:p>
        </p:txBody>
      </p:sp>
      <p:sp>
        <p:nvSpPr>
          <p:cNvPr id="101" name="Text 84"/>
          <p:cNvSpPr/>
          <p:nvPr/>
        </p:nvSpPr>
        <p:spPr>
          <a:xfrm>
            <a:off x="8569235" y="4947940"/>
            <a:ext cx="28901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2 页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2026-04-06T03:04:43Z</dcterms:created>
  <dcterms:modified xsi:type="dcterms:W3CDTF">2026-04-06T03:04:43Z</dcterms:modified>
</cp:coreProperties>
</file>