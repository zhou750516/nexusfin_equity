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0721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592931"/>
            <a:ext cx="9144000" cy="14288"/>
          </a:xfrm>
          <a:prstGeom prst="rect">
            <a:avLst/>
          </a:prstGeom>
          <a:solidFill>
            <a:srgbClr val="1A4FA3"/>
          </a:solidFill>
          <a:ln/>
        </p:spPr>
      </p:sp>
      <p:sp>
        <p:nvSpPr>
          <p:cNvPr id="5" name="Text 2"/>
          <p:cNvSpPr/>
          <p:nvPr/>
        </p:nvSpPr>
        <p:spPr>
          <a:xfrm>
            <a:off x="450056" y="161627"/>
            <a:ext cx="5489609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4FA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技术周报：惠聚项目 — 阶段性基线冻结，商务合同审核成最大阻塞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29375" y="142875"/>
            <a:ext cx="2428875" cy="307181"/>
          </a:xfrm>
          <a:prstGeom prst="rect">
            <a:avLst/>
          </a:prstGeom>
          <a:solidFill>
            <a:srgbClr val="FFF5F5"/>
          </a:solidFill>
          <a:ln w="18288">
            <a:solidFill>
              <a:srgbClr val="E53E3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29375" y="142875"/>
            <a:ext cx="2428875" cy="307181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53E3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项目状态：存在阻塞风险，商务审核待突破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292894" y="721519"/>
            <a:ext cx="2747972" cy="358973"/>
          </a:xfrm>
          <a:prstGeom prst="rect">
            <a:avLst/>
          </a:prstGeom>
          <a:solidFill>
            <a:srgbClr val="1A4FA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194" y="836712"/>
            <a:ext cx="160734" cy="1285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9366" y="807244"/>
            <a:ext cx="51435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一、产品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292894" y="1080492"/>
            <a:ext cx="680944" cy="346193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12" name="Shape 8"/>
          <p:cNvSpPr/>
          <p:nvPr/>
        </p:nvSpPr>
        <p:spPr>
          <a:xfrm>
            <a:off x="292894" y="1419541"/>
            <a:ext cx="680944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Text 9"/>
          <p:cNvSpPr/>
          <p:nvPr/>
        </p:nvSpPr>
        <p:spPr>
          <a:xfrm>
            <a:off x="292894" y="1080492"/>
            <a:ext cx="680944" cy="346193"/>
          </a:xfrm>
          <a:prstGeom prst="rect">
            <a:avLst/>
          </a:prstGeom>
          <a:noFill/>
          <a:ln/>
        </p:spPr>
        <p:txBody>
          <a:bodyPr wrap="none" lIns="85090" tIns="85090" rIns="85090" bIns="85090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4FA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事项</a:t>
            </a:r>
            <a:endParaRPr lang="en-US" sz="700" dirty="0"/>
          </a:p>
        </p:txBody>
      </p:sp>
      <p:sp>
        <p:nvSpPr>
          <p:cNvPr id="14" name="Shape 10"/>
          <p:cNvSpPr/>
          <p:nvPr/>
        </p:nvSpPr>
        <p:spPr>
          <a:xfrm>
            <a:off x="973838" y="1080492"/>
            <a:ext cx="571500" cy="346193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15" name="Shape 11"/>
          <p:cNvSpPr/>
          <p:nvPr/>
        </p:nvSpPr>
        <p:spPr>
          <a:xfrm>
            <a:off x="973838" y="1419541"/>
            <a:ext cx="5715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2"/>
          <p:cNvSpPr/>
          <p:nvPr/>
        </p:nvSpPr>
        <p:spPr>
          <a:xfrm>
            <a:off x="973838" y="1080492"/>
            <a:ext cx="571500" cy="346193"/>
          </a:xfrm>
          <a:prstGeom prst="rect">
            <a:avLst/>
          </a:prstGeom>
          <a:noFill/>
          <a:ln/>
        </p:spPr>
        <p:txBody>
          <a:bodyPr wrap="none" lIns="85090" tIns="85090" rIns="85090" bIns="85090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4FA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状态</a:t>
            </a:r>
            <a:endParaRPr lang="en-US" sz="700" dirty="0"/>
          </a:p>
        </p:txBody>
      </p:sp>
      <p:sp>
        <p:nvSpPr>
          <p:cNvPr id="17" name="Shape 13"/>
          <p:cNvSpPr/>
          <p:nvPr/>
        </p:nvSpPr>
        <p:spPr>
          <a:xfrm>
            <a:off x="1545338" y="1080492"/>
            <a:ext cx="1495527" cy="346193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18" name="Shape 14"/>
          <p:cNvSpPr/>
          <p:nvPr/>
        </p:nvSpPr>
        <p:spPr>
          <a:xfrm>
            <a:off x="1545338" y="1419541"/>
            <a:ext cx="1495527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Text 15"/>
          <p:cNvSpPr/>
          <p:nvPr/>
        </p:nvSpPr>
        <p:spPr>
          <a:xfrm>
            <a:off x="1545338" y="1080492"/>
            <a:ext cx="1495527" cy="34619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4FA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关键节点 / 进展</a:t>
            </a:r>
            <a:endParaRPr lang="en-US" sz="700" dirty="0"/>
          </a:p>
        </p:txBody>
      </p:sp>
      <p:sp>
        <p:nvSpPr>
          <p:cNvPr id="20" name="Text 16"/>
          <p:cNvSpPr/>
          <p:nvPr/>
        </p:nvSpPr>
        <p:spPr>
          <a:xfrm>
            <a:off x="433341" y="1534957"/>
            <a:ext cx="40005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前端确认</a:t>
            </a:r>
            <a:endParaRPr lang="en-US" sz="700" dirty="0"/>
          </a:p>
        </p:txBody>
      </p:sp>
      <p:sp>
        <p:nvSpPr>
          <p:cNvPr id="21" name="Shape 17"/>
          <p:cNvSpPr/>
          <p:nvPr/>
        </p:nvSpPr>
        <p:spPr>
          <a:xfrm>
            <a:off x="1045276" y="1509954"/>
            <a:ext cx="428625" cy="196453"/>
          </a:xfrm>
          <a:prstGeom prst="rect">
            <a:avLst/>
          </a:prstGeom>
          <a:solidFill>
            <a:srgbClr val="E6FFFA"/>
          </a:solidFill>
          <a:ln w="9144">
            <a:solidFill>
              <a:srgbClr val="38A169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045276" y="1509954"/>
            <a:ext cx="428625" cy="196453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8A16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完成</a:t>
            </a:r>
            <a:endParaRPr lang="en-US" sz="600" dirty="0"/>
          </a:p>
        </p:txBody>
      </p:sp>
      <p:sp>
        <p:nvSpPr>
          <p:cNvPr id="23" name="Text 19"/>
          <p:cNvSpPr/>
          <p:nvPr/>
        </p:nvSpPr>
        <p:spPr>
          <a:xfrm>
            <a:off x="1545338" y="1424229"/>
            <a:ext cx="1495527" cy="555120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完成前端页面、接口层面与小花侧的确认。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433341" y="2093649"/>
            <a:ext cx="40005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接口文档</a:t>
            </a:r>
            <a:endParaRPr lang="en-US" sz="700" dirty="0"/>
          </a:p>
        </p:txBody>
      </p:sp>
      <p:sp>
        <p:nvSpPr>
          <p:cNvPr id="25" name="Shape 21"/>
          <p:cNvSpPr/>
          <p:nvPr/>
        </p:nvSpPr>
        <p:spPr>
          <a:xfrm>
            <a:off x="1045276" y="2068646"/>
            <a:ext cx="428625" cy="196453"/>
          </a:xfrm>
          <a:prstGeom prst="rect">
            <a:avLst/>
          </a:prstGeom>
          <a:solidFill>
            <a:srgbClr val="FFFFF0"/>
          </a:solidFill>
          <a:ln w="9144">
            <a:solidFill>
              <a:srgbClr val="D69E2E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045276" y="2068646"/>
            <a:ext cx="428625" cy="196453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69E2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推进中</a:t>
            </a:r>
            <a:endParaRPr lang="en-US" sz="600" dirty="0"/>
          </a:p>
        </p:txBody>
      </p:sp>
      <p:sp>
        <p:nvSpPr>
          <p:cNvPr id="27" name="Text 23"/>
          <p:cNvSpPr/>
          <p:nvPr/>
        </p:nvSpPr>
        <p:spPr>
          <a:xfrm>
            <a:off x="1545338" y="1979349"/>
            <a:ext cx="1495527" cy="728132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推动小花提供产品接口文档；推动权益供应商重新提供接口文档。</a:t>
            </a:r>
            <a:endParaRPr lang="en-US" sz="750" dirty="0"/>
          </a:p>
        </p:txBody>
      </p:sp>
      <p:sp>
        <p:nvSpPr>
          <p:cNvPr id="28" name="Shape 24"/>
          <p:cNvSpPr/>
          <p:nvPr/>
        </p:nvSpPr>
        <p:spPr>
          <a:xfrm>
            <a:off x="3198028" y="721519"/>
            <a:ext cx="2747972" cy="358973"/>
          </a:xfrm>
          <a:prstGeom prst="rect">
            <a:avLst/>
          </a:prstGeom>
          <a:solidFill>
            <a:srgbClr val="1A4FA3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2328" y="836712"/>
            <a:ext cx="160734" cy="12858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3544500" y="807244"/>
            <a:ext cx="51435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二、研发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3198028" y="1080492"/>
            <a:ext cx="680944" cy="346193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32" name="Shape 27"/>
          <p:cNvSpPr/>
          <p:nvPr/>
        </p:nvSpPr>
        <p:spPr>
          <a:xfrm>
            <a:off x="3198028" y="1419541"/>
            <a:ext cx="680944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3" name="Text 28"/>
          <p:cNvSpPr/>
          <p:nvPr/>
        </p:nvSpPr>
        <p:spPr>
          <a:xfrm>
            <a:off x="3198028" y="1080492"/>
            <a:ext cx="680944" cy="346193"/>
          </a:xfrm>
          <a:prstGeom prst="rect">
            <a:avLst/>
          </a:prstGeom>
          <a:noFill/>
          <a:ln/>
        </p:spPr>
        <p:txBody>
          <a:bodyPr wrap="none" lIns="85090" tIns="85090" rIns="85090" bIns="85090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4FA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里程碑</a:t>
            </a:r>
            <a:endParaRPr lang="en-US" sz="700" dirty="0"/>
          </a:p>
        </p:txBody>
      </p:sp>
      <p:sp>
        <p:nvSpPr>
          <p:cNvPr id="34" name="Shape 29"/>
          <p:cNvSpPr/>
          <p:nvPr/>
        </p:nvSpPr>
        <p:spPr>
          <a:xfrm>
            <a:off x="3878973" y="1080492"/>
            <a:ext cx="571500" cy="346193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35" name="Shape 30"/>
          <p:cNvSpPr/>
          <p:nvPr/>
        </p:nvSpPr>
        <p:spPr>
          <a:xfrm>
            <a:off x="3878973" y="1419541"/>
            <a:ext cx="5715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31"/>
          <p:cNvSpPr/>
          <p:nvPr/>
        </p:nvSpPr>
        <p:spPr>
          <a:xfrm>
            <a:off x="3878973" y="1080492"/>
            <a:ext cx="571500" cy="346193"/>
          </a:xfrm>
          <a:prstGeom prst="rect">
            <a:avLst/>
          </a:prstGeom>
          <a:noFill/>
          <a:ln/>
        </p:spPr>
        <p:txBody>
          <a:bodyPr wrap="none" lIns="85090" tIns="85090" rIns="85090" bIns="85090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4FA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状态</a:t>
            </a:r>
            <a:endParaRPr lang="en-US" sz="700" dirty="0"/>
          </a:p>
        </p:txBody>
      </p:sp>
      <p:sp>
        <p:nvSpPr>
          <p:cNvPr id="37" name="Shape 32"/>
          <p:cNvSpPr/>
          <p:nvPr/>
        </p:nvSpPr>
        <p:spPr>
          <a:xfrm>
            <a:off x="4450473" y="1080492"/>
            <a:ext cx="1495527" cy="346193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38" name="Shape 33"/>
          <p:cNvSpPr/>
          <p:nvPr/>
        </p:nvSpPr>
        <p:spPr>
          <a:xfrm>
            <a:off x="4450473" y="1419541"/>
            <a:ext cx="1495527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9" name="Text 34"/>
          <p:cNvSpPr/>
          <p:nvPr/>
        </p:nvSpPr>
        <p:spPr>
          <a:xfrm>
            <a:off x="4450473" y="1080492"/>
            <a:ext cx="1495527" cy="34619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4FA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关键节点 / 进展</a:t>
            </a:r>
            <a:endParaRPr lang="en-US" sz="700" dirty="0"/>
          </a:p>
        </p:txBody>
      </p:sp>
      <p:sp>
        <p:nvSpPr>
          <p:cNvPr id="40" name="Text 35"/>
          <p:cNvSpPr/>
          <p:nvPr/>
        </p:nvSpPr>
        <p:spPr>
          <a:xfrm>
            <a:off x="3338475" y="1534957"/>
            <a:ext cx="40005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基线冻结</a:t>
            </a:r>
            <a:endParaRPr lang="en-US" sz="700" dirty="0"/>
          </a:p>
        </p:txBody>
      </p:sp>
      <p:sp>
        <p:nvSpPr>
          <p:cNvPr id="41" name="Shape 36"/>
          <p:cNvSpPr/>
          <p:nvPr/>
        </p:nvSpPr>
        <p:spPr>
          <a:xfrm>
            <a:off x="3950410" y="1509954"/>
            <a:ext cx="428625" cy="196453"/>
          </a:xfrm>
          <a:prstGeom prst="rect">
            <a:avLst/>
          </a:prstGeom>
          <a:solidFill>
            <a:srgbClr val="E6FFFA"/>
          </a:solidFill>
          <a:ln w="9144">
            <a:solidFill>
              <a:srgbClr val="38A169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3950410" y="1509954"/>
            <a:ext cx="428625" cy="196453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8A16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完成</a:t>
            </a:r>
            <a:endParaRPr lang="en-US" sz="600" dirty="0"/>
          </a:p>
        </p:txBody>
      </p:sp>
      <p:sp>
        <p:nvSpPr>
          <p:cNvPr id="43" name="Text 38"/>
          <p:cNvSpPr/>
          <p:nvPr/>
        </p:nvSpPr>
        <p:spPr>
          <a:xfrm>
            <a:off x="4450473" y="1424229"/>
            <a:ext cx="1495527" cy="728076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完成阶段性技术基线冻结与整体验证，后端主链路具备稳定基础。</a:t>
            </a:r>
            <a:endParaRPr lang="en-US" sz="750" dirty="0"/>
          </a:p>
        </p:txBody>
      </p:sp>
      <p:sp>
        <p:nvSpPr>
          <p:cNvPr id="44" name="Text 39"/>
          <p:cNvSpPr/>
          <p:nvPr/>
        </p:nvSpPr>
        <p:spPr>
          <a:xfrm>
            <a:off x="3338475" y="2266606"/>
            <a:ext cx="40005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任务重排</a:t>
            </a:r>
            <a:endParaRPr lang="en-US" sz="700" dirty="0"/>
          </a:p>
        </p:txBody>
      </p:sp>
      <p:sp>
        <p:nvSpPr>
          <p:cNvPr id="45" name="Shape 40"/>
          <p:cNvSpPr/>
          <p:nvPr/>
        </p:nvSpPr>
        <p:spPr>
          <a:xfrm>
            <a:off x="3950410" y="2241603"/>
            <a:ext cx="428625" cy="196453"/>
          </a:xfrm>
          <a:prstGeom prst="rect">
            <a:avLst/>
          </a:prstGeom>
          <a:solidFill>
            <a:srgbClr val="E6FFFA"/>
          </a:solidFill>
          <a:ln w="9144">
            <a:solidFill>
              <a:srgbClr val="38A169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3950410" y="2241603"/>
            <a:ext cx="428625" cy="196453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8A16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完成</a:t>
            </a:r>
            <a:endParaRPr lang="en-US" sz="600" dirty="0"/>
          </a:p>
        </p:txBody>
      </p:sp>
      <p:sp>
        <p:nvSpPr>
          <p:cNvPr id="47" name="Text 42"/>
          <p:cNvSpPr/>
          <p:nvPr/>
        </p:nvSpPr>
        <p:spPr>
          <a:xfrm>
            <a:off x="4450473" y="2152306"/>
            <a:ext cx="1495527" cy="55517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优先固定新链路、新状态和外部依赖边界。</a:t>
            </a:r>
            <a:endParaRPr lang="en-US" sz="750" dirty="0"/>
          </a:p>
        </p:txBody>
      </p:sp>
      <p:sp>
        <p:nvSpPr>
          <p:cNvPr id="48" name="Shape 43"/>
          <p:cNvSpPr/>
          <p:nvPr/>
        </p:nvSpPr>
        <p:spPr>
          <a:xfrm>
            <a:off x="6103162" y="721519"/>
            <a:ext cx="2747972" cy="358973"/>
          </a:xfrm>
          <a:prstGeom prst="rect">
            <a:avLst/>
          </a:prstGeom>
          <a:solidFill>
            <a:srgbClr val="1A4FA3"/>
          </a:solidFill>
          <a:ln/>
        </p:spPr>
      </p:sp>
      <p:pic>
        <p:nvPicPr>
          <p:cNvPr id="4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462" y="836712"/>
            <a:ext cx="160734" cy="128588"/>
          </a:xfrm>
          <a:prstGeom prst="rect">
            <a:avLst/>
          </a:prstGeom>
        </p:spPr>
      </p:pic>
      <p:sp>
        <p:nvSpPr>
          <p:cNvPr id="50" name="Text 44"/>
          <p:cNvSpPr/>
          <p:nvPr/>
        </p:nvSpPr>
        <p:spPr>
          <a:xfrm>
            <a:off x="6449634" y="807244"/>
            <a:ext cx="1757279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三、商务（供应商·法务·其它）</a:t>
            </a:r>
            <a:endParaRPr lang="en-US" sz="900" dirty="0"/>
          </a:p>
        </p:txBody>
      </p:sp>
      <p:sp>
        <p:nvSpPr>
          <p:cNvPr id="51" name="Shape 45"/>
          <p:cNvSpPr/>
          <p:nvPr/>
        </p:nvSpPr>
        <p:spPr>
          <a:xfrm>
            <a:off x="6103162" y="1080492"/>
            <a:ext cx="680944" cy="313097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52" name="Shape 46"/>
          <p:cNvSpPr/>
          <p:nvPr/>
        </p:nvSpPr>
        <p:spPr>
          <a:xfrm>
            <a:off x="6103162" y="1386446"/>
            <a:ext cx="680944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3" name="Text 47"/>
          <p:cNvSpPr/>
          <p:nvPr/>
        </p:nvSpPr>
        <p:spPr>
          <a:xfrm>
            <a:off x="6103162" y="1080492"/>
            <a:ext cx="680944" cy="313097"/>
          </a:xfrm>
          <a:prstGeom prst="rect">
            <a:avLst/>
          </a:prstGeom>
          <a:noFill/>
          <a:ln/>
        </p:spPr>
        <p:txBody>
          <a:bodyPr wrap="none" lIns="85090" tIns="85090" rIns="85090" bIns="85090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4FA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事项</a:t>
            </a:r>
            <a:endParaRPr lang="en-US" sz="700" dirty="0"/>
          </a:p>
        </p:txBody>
      </p:sp>
      <p:sp>
        <p:nvSpPr>
          <p:cNvPr id="54" name="Shape 48"/>
          <p:cNvSpPr/>
          <p:nvPr/>
        </p:nvSpPr>
        <p:spPr>
          <a:xfrm>
            <a:off x="6784107" y="1080492"/>
            <a:ext cx="571500" cy="313097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55" name="Shape 49"/>
          <p:cNvSpPr/>
          <p:nvPr/>
        </p:nvSpPr>
        <p:spPr>
          <a:xfrm>
            <a:off x="6784107" y="1386446"/>
            <a:ext cx="5715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6" name="Text 50"/>
          <p:cNvSpPr/>
          <p:nvPr/>
        </p:nvSpPr>
        <p:spPr>
          <a:xfrm>
            <a:off x="6784107" y="1080492"/>
            <a:ext cx="571500" cy="313097"/>
          </a:xfrm>
          <a:prstGeom prst="rect">
            <a:avLst/>
          </a:prstGeom>
          <a:noFill/>
          <a:ln/>
        </p:spPr>
        <p:txBody>
          <a:bodyPr wrap="none" lIns="85090" tIns="85090" rIns="85090" bIns="85090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4FA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状态</a:t>
            </a:r>
            <a:endParaRPr lang="en-US" sz="700" dirty="0"/>
          </a:p>
        </p:txBody>
      </p:sp>
      <p:sp>
        <p:nvSpPr>
          <p:cNvPr id="57" name="Shape 51"/>
          <p:cNvSpPr/>
          <p:nvPr/>
        </p:nvSpPr>
        <p:spPr>
          <a:xfrm>
            <a:off x="7355607" y="1080492"/>
            <a:ext cx="1495527" cy="313097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58" name="Shape 52"/>
          <p:cNvSpPr/>
          <p:nvPr/>
        </p:nvSpPr>
        <p:spPr>
          <a:xfrm>
            <a:off x="7355607" y="1386446"/>
            <a:ext cx="1495527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9" name="Text 53"/>
          <p:cNvSpPr/>
          <p:nvPr/>
        </p:nvSpPr>
        <p:spPr>
          <a:xfrm>
            <a:off x="7355607" y="1080492"/>
            <a:ext cx="1495527" cy="313097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4FA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关键节点 / 进展</a:t>
            </a:r>
            <a:endParaRPr lang="en-US" sz="700" dirty="0"/>
          </a:p>
        </p:txBody>
      </p:sp>
      <p:sp>
        <p:nvSpPr>
          <p:cNvPr id="60" name="Text 54"/>
          <p:cNvSpPr/>
          <p:nvPr/>
        </p:nvSpPr>
        <p:spPr>
          <a:xfrm>
            <a:off x="6243610" y="1501946"/>
            <a:ext cx="40005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合同审核</a:t>
            </a:r>
            <a:endParaRPr lang="en-US" sz="700" dirty="0"/>
          </a:p>
        </p:txBody>
      </p:sp>
      <p:sp>
        <p:nvSpPr>
          <p:cNvPr id="61" name="Shape 55"/>
          <p:cNvSpPr/>
          <p:nvPr/>
        </p:nvSpPr>
        <p:spPr>
          <a:xfrm>
            <a:off x="6855544" y="1476942"/>
            <a:ext cx="428625" cy="196453"/>
          </a:xfrm>
          <a:prstGeom prst="rect">
            <a:avLst/>
          </a:prstGeom>
          <a:solidFill>
            <a:srgbClr val="FFF5F5"/>
          </a:solidFill>
          <a:ln w="9144">
            <a:solidFill>
              <a:srgbClr val="E53E3E"/>
            </a:solidFill>
            <a:prstDash val="solid"/>
          </a:ln>
        </p:spPr>
      </p:sp>
      <p:sp>
        <p:nvSpPr>
          <p:cNvPr id="62" name="Text 56"/>
          <p:cNvSpPr/>
          <p:nvPr/>
        </p:nvSpPr>
        <p:spPr>
          <a:xfrm>
            <a:off x="6855544" y="1476942"/>
            <a:ext cx="428625" cy="196453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E53E3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阻塞</a:t>
            </a:r>
            <a:endParaRPr lang="en-US" sz="600" dirty="0"/>
          </a:p>
        </p:txBody>
      </p:sp>
      <p:sp>
        <p:nvSpPr>
          <p:cNvPr id="63" name="Text 57"/>
          <p:cNvSpPr/>
          <p:nvPr/>
        </p:nvSpPr>
        <p:spPr>
          <a:xfrm>
            <a:off x="7355607" y="1391217"/>
            <a:ext cx="1495527" cy="658118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推动研究院认可将与律所合同、法大大合同价格拆包，缩短审核流程。</a:t>
            </a:r>
            <a:endParaRPr lang="en-US" sz="750" dirty="0"/>
          </a:p>
        </p:txBody>
      </p:sp>
      <p:sp>
        <p:nvSpPr>
          <p:cNvPr id="64" name="Text 58"/>
          <p:cNvSpPr/>
          <p:nvPr/>
        </p:nvSpPr>
        <p:spPr>
          <a:xfrm>
            <a:off x="6243610" y="2163635"/>
            <a:ext cx="40005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协议调整</a:t>
            </a:r>
            <a:endParaRPr lang="en-US" sz="700" dirty="0"/>
          </a:p>
        </p:txBody>
      </p:sp>
      <p:sp>
        <p:nvSpPr>
          <p:cNvPr id="65" name="Shape 59"/>
          <p:cNvSpPr/>
          <p:nvPr/>
        </p:nvSpPr>
        <p:spPr>
          <a:xfrm>
            <a:off x="6855544" y="2138632"/>
            <a:ext cx="428625" cy="196453"/>
          </a:xfrm>
          <a:prstGeom prst="rect">
            <a:avLst/>
          </a:prstGeom>
          <a:solidFill>
            <a:srgbClr val="E6FFFA"/>
          </a:solidFill>
          <a:ln w="9144">
            <a:solidFill>
              <a:srgbClr val="38A169"/>
            </a:solidFill>
            <a:prstDash val="solid"/>
          </a:ln>
        </p:spPr>
      </p:sp>
      <p:sp>
        <p:nvSpPr>
          <p:cNvPr id="66" name="Text 60"/>
          <p:cNvSpPr/>
          <p:nvPr/>
        </p:nvSpPr>
        <p:spPr>
          <a:xfrm>
            <a:off x="6855544" y="2138632"/>
            <a:ext cx="428625" cy="196453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8A16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完成</a:t>
            </a:r>
            <a:endParaRPr lang="en-US" sz="600" dirty="0"/>
          </a:p>
        </p:txBody>
      </p:sp>
      <p:sp>
        <p:nvSpPr>
          <p:cNvPr id="67" name="Text 61"/>
          <p:cNvSpPr/>
          <p:nvPr/>
        </p:nvSpPr>
        <p:spPr>
          <a:xfrm>
            <a:off x="7355607" y="2049335"/>
            <a:ext cx="1495527" cy="658146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针对“助贷业务”与研究院确认律所协议内容，删掉金融助贷业务描述。</a:t>
            </a:r>
            <a:endParaRPr lang="en-US" sz="750" dirty="0"/>
          </a:p>
        </p:txBody>
      </p:sp>
      <p:sp>
        <p:nvSpPr>
          <p:cNvPr id="68" name="Shape 62"/>
          <p:cNvSpPr/>
          <p:nvPr/>
        </p:nvSpPr>
        <p:spPr>
          <a:xfrm>
            <a:off x="285750" y="2843213"/>
            <a:ext cx="8572500" cy="896541"/>
          </a:xfrm>
          <a:prstGeom prst="rect">
            <a:avLst/>
          </a:prstGeom>
          <a:solidFill>
            <a:srgbClr val="FFF5F5"/>
          </a:solidFill>
          <a:ln w="9144">
            <a:solidFill>
              <a:srgbClr val="FC8181"/>
            </a:solidFill>
            <a:prstDash val="solid"/>
          </a:ln>
        </p:spPr>
      </p:sp>
      <p:pic>
        <p:nvPicPr>
          <p:cNvPr id="6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4647" y="2982516"/>
            <a:ext cx="114300" cy="114300"/>
          </a:xfrm>
          <a:prstGeom prst="rect">
            <a:avLst/>
          </a:prstGeom>
        </p:spPr>
      </p:pic>
      <p:sp>
        <p:nvSpPr>
          <p:cNvPr id="70" name="Text 63"/>
          <p:cNvSpPr/>
          <p:nvPr/>
        </p:nvSpPr>
        <p:spPr>
          <a:xfrm>
            <a:off x="4356097" y="2957513"/>
            <a:ext cx="60325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53E3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风险 &amp; 诉求</a:t>
            </a:r>
            <a:endParaRPr lang="en-US" sz="800" dirty="0"/>
          </a:p>
        </p:txBody>
      </p:sp>
      <p:sp>
        <p:nvSpPr>
          <p:cNvPr id="71" name="Text 64"/>
          <p:cNvSpPr/>
          <p:nvPr/>
        </p:nvSpPr>
        <p:spPr>
          <a:xfrm>
            <a:off x="428625" y="3207544"/>
            <a:ext cx="71437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【商务阻塞】</a:t>
            </a:r>
            <a:endParaRPr lang="en-US" sz="700" dirty="0"/>
          </a:p>
        </p:txBody>
      </p:sp>
      <p:sp>
        <p:nvSpPr>
          <p:cNvPr id="72" name="Text 65"/>
          <p:cNvSpPr/>
          <p:nvPr/>
        </p:nvSpPr>
        <p:spPr>
          <a:xfrm>
            <a:off x="1250156" y="3207544"/>
            <a:ext cx="3000375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商务合同审核严重阻塞项目进度，需介入协调研究院加快审核流程。</a:t>
            </a:r>
            <a:endParaRPr lang="en-US" sz="750" dirty="0"/>
          </a:p>
        </p:txBody>
      </p:sp>
      <p:sp>
        <p:nvSpPr>
          <p:cNvPr id="73" name="Text 66"/>
          <p:cNvSpPr/>
          <p:nvPr/>
        </p:nvSpPr>
        <p:spPr>
          <a:xfrm>
            <a:off x="428625" y="3409355"/>
            <a:ext cx="71437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【外部依赖】</a:t>
            </a:r>
            <a:endParaRPr lang="en-US" sz="700" dirty="0"/>
          </a:p>
        </p:txBody>
      </p:sp>
      <p:sp>
        <p:nvSpPr>
          <p:cNvPr id="74" name="Text 67"/>
          <p:cNvSpPr/>
          <p:nvPr/>
        </p:nvSpPr>
        <p:spPr>
          <a:xfrm>
            <a:off x="1250156" y="3409355"/>
            <a:ext cx="4200525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云卡状态机、用信状态查询等关键接口未定版，小花、齐为、法大大正式文档仍依赖外部补齐。</a:t>
            </a:r>
            <a:endParaRPr lang="en-US" sz="750" dirty="0"/>
          </a:p>
        </p:txBody>
      </p:sp>
      <p:sp>
        <p:nvSpPr>
          <p:cNvPr id="75" name="Shape 68"/>
          <p:cNvSpPr/>
          <p:nvPr/>
        </p:nvSpPr>
        <p:spPr>
          <a:xfrm>
            <a:off x="285750" y="3854053"/>
            <a:ext cx="8572500" cy="782241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7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" y="3993356"/>
            <a:ext cx="100013" cy="114300"/>
          </a:xfrm>
          <a:prstGeom prst="rect">
            <a:avLst/>
          </a:prstGeom>
        </p:spPr>
      </p:pic>
      <p:sp>
        <p:nvSpPr>
          <p:cNvPr id="77" name="Text 69"/>
          <p:cNvSpPr/>
          <p:nvPr/>
        </p:nvSpPr>
        <p:spPr>
          <a:xfrm>
            <a:off x="585788" y="3968353"/>
            <a:ext cx="9144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4FA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下周核心计划提炼</a:t>
            </a:r>
            <a:endParaRPr lang="en-US" sz="800" dirty="0"/>
          </a:p>
        </p:txBody>
      </p:sp>
      <p:pic>
        <p:nvPicPr>
          <p:cNvPr id="7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625" y="4246959"/>
            <a:ext cx="100013" cy="260747"/>
          </a:xfrm>
          <a:prstGeom prst="rect">
            <a:avLst/>
          </a:prstGeom>
        </p:spPr>
      </p:pic>
      <p:sp>
        <p:nvSpPr>
          <p:cNvPr id="79" name="Text 70"/>
          <p:cNvSpPr/>
          <p:nvPr/>
        </p:nvSpPr>
        <p:spPr>
          <a:xfrm>
            <a:off x="600075" y="4218384"/>
            <a:ext cx="3900488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商务与外部推进：</a:t>
            </a:r>
            <a:r>
              <a:rPr lang="en-US" sz="7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重点突破商务合同审核卡点；催促小花、齐为、法大大更新正式接口</a:t>
            </a:r>
            <a:r>
              <a:rPr lang="en-US" sz="7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文档与接入资料。</a:t>
            </a:r>
            <a:endParaRPr lang="en-US" sz="700" dirty="0"/>
          </a:p>
        </p:txBody>
      </p:sp>
      <p:pic>
        <p:nvPicPr>
          <p:cNvPr id="8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3438" y="4246959"/>
            <a:ext cx="100013" cy="260747"/>
          </a:xfrm>
          <a:prstGeom prst="rect">
            <a:avLst/>
          </a:prstGeom>
        </p:spPr>
      </p:pic>
      <p:sp>
        <p:nvSpPr>
          <p:cNvPr id="81" name="Text 71"/>
          <p:cNvSpPr/>
          <p:nvPr/>
        </p:nvSpPr>
        <p:spPr>
          <a:xfrm>
            <a:off x="4814888" y="4218384"/>
            <a:ext cx="3900488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研发与交付：</a:t>
            </a:r>
            <a:r>
              <a:rPr lang="en-US" sz="7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细化三类方案（用信新链路、状态映射、自动埋点）；明确 Shared </a:t>
            </a:r>
            <a:r>
              <a:rPr lang="en-US" sz="7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Foundation 第一批落地项。</a:t>
            </a:r>
            <a:endParaRPr lang="en-US" sz="700" dirty="0"/>
          </a:p>
        </p:txBody>
      </p:sp>
      <p:sp>
        <p:nvSpPr>
          <p:cNvPr id="82" name="Shape 72"/>
          <p:cNvSpPr/>
          <p:nvPr/>
        </p:nvSpPr>
        <p:spPr>
          <a:xfrm>
            <a:off x="0" y="4829175"/>
            <a:ext cx="9144000" cy="285750"/>
          </a:xfrm>
          <a:prstGeom prst="rect">
            <a:avLst/>
          </a:prstGeom>
          <a:solidFill>
            <a:srgbClr val="1A4FA3"/>
          </a:solidFill>
          <a:ln/>
        </p:spPr>
      </p:sp>
      <p:pic>
        <p:nvPicPr>
          <p:cNvPr id="8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5750" y="4928295"/>
            <a:ext cx="100013" cy="100013"/>
          </a:xfrm>
          <a:prstGeom prst="rect">
            <a:avLst/>
          </a:prstGeom>
        </p:spPr>
      </p:pic>
      <p:sp>
        <p:nvSpPr>
          <p:cNvPr id="84" name="Text 73"/>
          <p:cNvSpPr/>
          <p:nvPr/>
        </p:nvSpPr>
        <p:spPr>
          <a:xfrm>
            <a:off x="442913" y="4924723"/>
            <a:ext cx="1333621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小花科技 XIAOHUA FINTECH</a:t>
            </a:r>
            <a:endParaRPr lang="en-US" sz="750" dirty="0"/>
          </a:p>
        </p:txBody>
      </p:sp>
      <p:sp>
        <p:nvSpPr>
          <p:cNvPr id="85" name="Text 74"/>
          <p:cNvSpPr/>
          <p:nvPr/>
        </p:nvSpPr>
        <p:spPr>
          <a:xfrm>
            <a:off x="8547022" y="4899720"/>
            <a:ext cx="311228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第 1 页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857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571500"/>
            <a:ext cx="9144000" cy="14288"/>
          </a:xfrm>
          <a:prstGeom prst="rect">
            <a:avLst/>
          </a:prstGeom>
          <a:solidFill>
            <a:srgbClr val="1A4FA3"/>
          </a:solidFill>
          <a:ln/>
        </p:spPr>
      </p:sp>
      <p:sp>
        <p:nvSpPr>
          <p:cNvPr id="5" name="Text 2"/>
          <p:cNvSpPr/>
          <p:nvPr/>
        </p:nvSpPr>
        <p:spPr>
          <a:xfrm>
            <a:off x="450056" y="150912"/>
            <a:ext cx="4643438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4FA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本周技术进展总结：阶段收口、边界重排与推进口径统一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85750" y="714375"/>
            <a:ext cx="4214813" cy="2059019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85750" y="714375"/>
            <a:ext cx="4214813" cy="330398"/>
          </a:xfrm>
          <a:prstGeom prst="rect">
            <a:avLst/>
          </a:prstGeom>
          <a:solidFill>
            <a:srgbClr val="1A4FA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815280"/>
            <a:ext cx="160734" cy="1285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2222" y="785813"/>
            <a:ext cx="1157288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一、艾博生技术进展</a:t>
            </a:r>
            <a:endParaRPr lang="en-US" sz="9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1144786"/>
            <a:ext cx="100013" cy="10001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71500" y="1116211"/>
            <a:ext cx="3814763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1A4FA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异步补偿调度：</a:t>
            </a:r>
            <a:r>
              <a:rPr lang="en-US" sz="7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完成自动调度运行口径收口，补齐启用说明、显式分片策略与人工介入 </a:t>
            </a:r>
            <a:r>
              <a:rPr lang="en-US" sz="7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SOP。</a:t>
            </a:r>
            <a:endParaRPr lang="en-US" sz="7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" y="1467650"/>
            <a:ext cx="100013" cy="10001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71500" y="1439075"/>
            <a:ext cx="3814763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1A4FA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基线冻结验证：</a:t>
            </a:r>
            <a:r>
              <a:rPr lang="en-US" sz="7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完成阶段性技术基线冻结（快照 e06dea2）与完整后端回归，确认主</a:t>
            </a:r>
            <a:r>
              <a:rPr lang="en-US" sz="7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链路具备稳定基础。</a:t>
            </a:r>
            <a:endParaRPr lang="en-US" sz="7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050" y="1790514"/>
            <a:ext cx="100013" cy="100013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71500" y="1761939"/>
            <a:ext cx="3814763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1A4FA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日志链路闭环：</a:t>
            </a:r>
            <a:r>
              <a:rPr lang="en-US" sz="7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完成异步补偿日志链路补齐，统一 errorNo/errorMsg 口径，形成排障</a:t>
            </a:r>
            <a:r>
              <a:rPr lang="en-US" sz="7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闭环。</a:t>
            </a:r>
            <a:endParaRPr lang="en-US" sz="7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050" y="2113378"/>
            <a:ext cx="100013" cy="100013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71500" y="2084803"/>
            <a:ext cx="3814763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1A4FA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差异分析拆解：</a:t>
            </a:r>
            <a:r>
              <a:rPr lang="en-US" sz="7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完成小花 4.22 差异分析，明确缺口集中在 Yunka 路径配置、typed </a:t>
            </a:r>
            <a:r>
              <a:rPr lang="en-US" sz="7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DTO、动态协议等共享基础。</a:t>
            </a:r>
            <a:endParaRPr lang="en-US" sz="7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0050" y="2436242"/>
            <a:ext cx="100013" cy="100013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71500" y="2407667"/>
            <a:ext cx="3814763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1A4FA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任务重排纠偏：</a:t>
            </a:r>
            <a:r>
              <a:rPr lang="en-US" sz="7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确认旧任务清单不再作为主入口，按“共享基础收口 → 权益页动态化 </a:t>
            </a:r>
            <a:r>
              <a:rPr lang="en-US" sz="7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 借款链路对齐”顺序推进。</a:t>
            </a:r>
            <a:endParaRPr lang="en-US" sz="700" dirty="0"/>
          </a:p>
        </p:txBody>
      </p:sp>
      <p:sp>
        <p:nvSpPr>
          <p:cNvPr id="20" name="Shape 11"/>
          <p:cNvSpPr/>
          <p:nvPr/>
        </p:nvSpPr>
        <p:spPr>
          <a:xfrm>
            <a:off x="285750" y="2844831"/>
            <a:ext cx="4214813" cy="627562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1" name="Shape 12"/>
          <p:cNvSpPr/>
          <p:nvPr/>
        </p:nvSpPr>
        <p:spPr>
          <a:xfrm>
            <a:off x="285750" y="2844831"/>
            <a:ext cx="4214813" cy="330398"/>
          </a:xfrm>
          <a:prstGeom prst="rect">
            <a:avLst/>
          </a:prstGeom>
          <a:solidFill>
            <a:srgbClr val="1A4FA3"/>
          </a:solidFill>
          <a:ln/>
        </p:spPr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0050" y="2945736"/>
            <a:ext cx="128588" cy="128588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600075" y="2916269"/>
            <a:ext cx="102870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二、云卡技术进展</a:t>
            </a:r>
            <a:endParaRPr lang="en-US" sz="90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0050" y="3275242"/>
            <a:ext cx="100013" cy="100013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571500" y="3246667"/>
            <a:ext cx="360045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718096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本周暂无进度：</a:t>
            </a:r>
            <a:r>
              <a:rPr lang="en-US" sz="7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云卡状态机、用信状态查询等关键接口仍未定版，依赖外部补齐。</a:t>
            </a:r>
            <a:endParaRPr lang="en-US" sz="700" dirty="0"/>
          </a:p>
        </p:txBody>
      </p:sp>
      <p:sp>
        <p:nvSpPr>
          <p:cNvPr id="26" name="Shape 15"/>
          <p:cNvSpPr/>
          <p:nvPr/>
        </p:nvSpPr>
        <p:spPr>
          <a:xfrm>
            <a:off x="4643438" y="714375"/>
            <a:ext cx="4214813" cy="1970112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7" name="Shape 16"/>
          <p:cNvSpPr/>
          <p:nvPr/>
        </p:nvSpPr>
        <p:spPr>
          <a:xfrm>
            <a:off x="4643438" y="714375"/>
            <a:ext cx="4214813" cy="330398"/>
          </a:xfrm>
          <a:prstGeom prst="rect">
            <a:avLst/>
          </a:prstGeom>
          <a:solidFill>
            <a:srgbClr val="FFC000"/>
          </a:solidFill>
          <a:ln/>
        </p:spPr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7738" y="815280"/>
            <a:ext cx="160734" cy="128588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4989909" y="785813"/>
            <a:ext cx="2021570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4FA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三、AiCoding 本周思考与价值提炼</a:t>
            </a:r>
            <a:endParaRPr lang="en-US" sz="900" dirty="0"/>
          </a:p>
        </p:txBody>
      </p:sp>
      <p:sp>
        <p:nvSpPr>
          <p:cNvPr id="30" name="Text 18"/>
          <p:cNvSpPr/>
          <p:nvPr/>
        </p:nvSpPr>
        <p:spPr>
          <a:xfrm>
            <a:off x="4757738" y="1116211"/>
            <a:ext cx="3986213" cy="191095"/>
          </a:xfrm>
          <a:prstGeom prst="rect">
            <a:avLst/>
          </a:prstGeom>
          <a:noFill/>
          <a:ln/>
        </p:spPr>
        <p:txBody>
          <a:bodyPr wrap="square" lIns="0" tIns="0" rIns="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A4FA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核心结论：AI 从“交付执行助手”升级为“阶段收口与边界重排器”</a:t>
            </a:r>
            <a:endParaRPr lang="en-US" sz="750" dirty="0"/>
          </a:p>
        </p:txBody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57738" y="1378744"/>
            <a:ext cx="75009" cy="100013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4904184" y="1350169"/>
            <a:ext cx="3839766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1A4FA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阶段真相提炼：</a:t>
            </a:r>
            <a:r>
              <a:rPr lang="en-US" sz="7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在复杂调整期，AI 帮助明确“当前具备什么、还缺什么、为什么不能直</a:t>
            </a:r>
            <a:r>
              <a:rPr lang="en-US" sz="7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接开改”，比单纯写代码更重要。</a:t>
            </a:r>
            <a:endParaRPr lang="en-US" sz="700" dirty="0"/>
          </a:p>
        </p:txBody>
      </p:sp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57738" y="1701608"/>
            <a:ext cx="100013" cy="100013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4929188" y="1673033"/>
            <a:ext cx="3814763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1A4FA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减少错误推进：</a:t>
            </a:r>
            <a:r>
              <a:rPr lang="en-US" sz="7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通过差异分析和任务重排，避免继续沿旧任务和旧边界扩散实现，显著</a:t>
            </a:r>
            <a:r>
              <a:rPr lang="en-US" sz="7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降低返工风险。</a:t>
            </a:r>
            <a:endParaRPr lang="en-US" sz="700" dirty="0"/>
          </a:p>
        </p:txBody>
      </p:sp>
      <p:pic>
        <p:nvPicPr>
          <p:cNvPr id="3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57738" y="2024472"/>
            <a:ext cx="100013" cy="100013"/>
          </a:xfrm>
          <a:prstGeom prst="rect">
            <a:avLst/>
          </a:prstGeom>
        </p:spPr>
      </p:pic>
      <p:sp>
        <p:nvSpPr>
          <p:cNvPr id="36" name="Text 21"/>
          <p:cNvSpPr/>
          <p:nvPr/>
        </p:nvSpPr>
        <p:spPr>
          <a:xfrm>
            <a:off x="4929188" y="1995897"/>
            <a:ext cx="3814763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1A4FA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外部边界管理：</a:t>
            </a:r>
            <a:r>
              <a:rPr lang="en-US" sz="7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在多方依赖不稳定的情况下，AI 持续输出“替换点 + 边界说明”，区分</a:t>
            </a:r>
            <a:r>
              <a:rPr lang="en-US" sz="7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可推进与待确认事项。</a:t>
            </a:r>
            <a:endParaRPr lang="en-US" sz="700" dirty="0"/>
          </a:p>
        </p:txBody>
      </p:sp>
      <p:pic>
        <p:nvPicPr>
          <p:cNvPr id="3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57738" y="2347336"/>
            <a:ext cx="75009" cy="100013"/>
          </a:xfrm>
          <a:prstGeom prst="rect">
            <a:avLst/>
          </a:prstGeom>
        </p:spPr>
      </p:pic>
      <p:sp>
        <p:nvSpPr>
          <p:cNvPr id="38" name="Text 22"/>
          <p:cNvSpPr/>
          <p:nvPr/>
        </p:nvSpPr>
        <p:spPr>
          <a:xfrm>
            <a:off x="4904184" y="2318761"/>
            <a:ext cx="3839766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1A4FA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连续治理闭环：</a:t>
            </a:r>
            <a:r>
              <a:rPr lang="en-US" sz="7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持续回填日报、decision-review、周报和计划，让阶段性结论和风险判</a:t>
            </a:r>
            <a:r>
              <a:rPr lang="en-US" sz="7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断形成可回溯的文档链条。</a:t>
            </a:r>
            <a:endParaRPr lang="en-US" sz="700" dirty="0"/>
          </a:p>
        </p:txBody>
      </p:sp>
      <p:sp>
        <p:nvSpPr>
          <p:cNvPr id="39" name="Shape 23"/>
          <p:cNvSpPr/>
          <p:nvPr/>
        </p:nvSpPr>
        <p:spPr>
          <a:xfrm>
            <a:off x="4643438" y="2755925"/>
            <a:ext cx="4214813" cy="1413290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40" name="Shape 24"/>
          <p:cNvSpPr/>
          <p:nvPr/>
        </p:nvSpPr>
        <p:spPr>
          <a:xfrm>
            <a:off x="4643438" y="2755925"/>
            <a:ext cx="4214813" cy="330398"/>
          </a:xfrm>
          <a:prstGeom prst="rect">
            <a:avLst/>
          </a:prstGeom>
          <a:solidFill>
            <a:srgbClr val="1A4FA3"/>
          </a:solidFill>
          <a:ln/>
        </p:spPr>
      </p:sp>
      <p:pic>
        <p:nvPicPr>
          <p:cNvPr id="41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57738" y="2856830"/>
            <a:ext cx="112514" cy="128588"/>
          </a:xfrm>
          <a:prstGeom prst="rect">
            <a:avLst/>
          </a:prstGeom>
        </p:spPr>
      </p:pic>
      <p:sp>
        <p:nvSpPr>
          <p:cNvPr id="42" name="Text 25"/>
          <p:cNvSpPr/>
          <p:nvPr/>
        </p:nvSpPr>
        <p:spPr>
          <a:xfrm>
            <a:off x="4941689" y="2827362"/>
            <a:ext cx="102870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四、下周技术计划</a:t>
            </a:r>
            <a:endParaRPr lang="en-US" sz="900" dirty="0"/>
          </a:p>
        </p:txBody>
      </p:sp>
      <p:pic>
        <p:nvPicPr>
          <p:cNvPr id="43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57738" y="3186336"/>
            <a:ext cx="87511" cy="100013"/>
          </a:xfrm>
          <a:prstGeom prst="rect">
            <a:avLst/>
          </a:prstGeom>
        </p:spPr>
      </p:pic>
      <p:sp>
        <p:nvSpPr>
          <p:cNvPr id="44" name="Text 26"/>
          <p:cNvSpPr/>
          <p:nvPr/>
        </p:nvSpPr>
        <p:spPr>
          <a:xfrm>
            <a:off x="4916686" y="3157761"/>
            <a:ext cx="3827264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1A4FA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Shared Foundation：</a:t>
            </a:r>
            <a:r>
              <a:rPr lang="en-US" sz="7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优先明确 Yunka 路径配置、typed DTO 范围、Facade 入口设</a:t>
            </a:r>
            <a:r>
              <a:rPr lang="en-US" sz="7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计及回调 DTO 模型。</a:t>
            </a:r>
            <a:endParaRPr lang="en-US" sz="700" dirty="0"/>
          </a:p>
        </p:txBody>
      </p:sp>
      <p:pic>
        <p:nvPicPr>
          <p:cNvPr id="45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757738" y="3509200"/>
            <a:ext cx="87511" cy="100013"/>
          </a:xfrm>
          <a:prstGeom prst="rect">
            <a:avLst/>
          </a:prstGeom>
        </p:spPr>
      </p:pic>
      <p:sp>
        <p:nvSpPr>
          <p:cNvPr id="46" name="Text 27"/>
          <p:cNvSpPr/>
          <p:nvPr/>
        </p:nvSpPr>
        <p:spPr>
          <a:xfrm>
            <a:off x="4916686" y="3480625"/>
            <a:ext cx="3827264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1A4FA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三类方案细化：</a:t>
            </a:r>
            <a:r>
              <a:rPr lang="en-US" sz="7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细化用信新链路改造方案、云卡状态查询与 H5 状态映射方案、H5 自</a:t>
            </a:r>
            <a:r>
              <a:rPr lang="en-US" sz="7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动埋点方案。</a:t>
            </a:r>
            <a:endParaRPr lang="en-US" sz="700" dirty="0"/>
          </a:p>
        </p:txBody>
      </p:sp>
      <p:pic>
        <p:nvPicPr>
          <p:cNvPr id="47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757738" y="3832064"/>
            <a:ext cx="87511" cy="100013"/>
          </a:xfrm>
          <a:prstGeom prst="rect">
            <a:avLst/>
          </a:prstGeom>
        </p:spPr>
      </p:pic>
      <p:sp>
        <p:nvSpPr>
          <p:cNvPr id="48" name="Text 28"/>
          <p:cNvSpPr/>
          <p:nvPr/>
        </p:nvSpPr>
        <p:spPr>
          <a:xfrm>
            <a:off x="4916686" y="3803489"/>
            <a:ext cx="3827264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1A4FA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外部依赖拆分：</a:t>
            </a:r>
            <a:r>
              <a:rPr lang="en-US" sz="7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持续明确外部待确认项与本侧可执行项边界，不抢跑真实主链改造和外</a:t>
            </a:r>
            <a:r>
              <a:rPr lang="en-US" sz="7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部接口开发。</a:t>
            </a:r>
            <a:endParaRPr lang="en-US" sz="700" dirty="0"/>
          </a:p>
        </p:txBody>
      </p:sp>
      <p:sp>
        <p:nvSpPr>
          <p:cNvPr id="49" name="Shape 29"/>
          <p:cNvSpPr/>
          <p:nvPr/>
        </p:nvSpPr>
        <p:spPr>
          <a:xfrm>
            <a:off x="0" y="4829175"/>
            <a:ext cx="9144000" cy="285750"/>
          </a:xfrm>
          <a:prstGeom prst="rect">
            <a:avLst/>
          </a:prstGeom>
          <a:solidFill>
            <a:srgbClr val="1A4FA3"/>
          </a:solidFill>
          <a:ln/>
        </p:spPr>
      </p:sp>
      <p:pic>
        <p:nvPicPr>
          <p:cNvPr id="5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85750" y="4928295"/>
            <a:ext cx="100013" cy="100013"/>
          </a:xfrm>
          <a:prstGeom prst="rect">
            <a:avLst/>
          </a:prstGeom>
        </p:spPr>
      </p:pic>
      <p:sp>
        <p:nvSpPr>
          <p:cNvPr id="51" name="Text 30"/>
          <p:cNvSpPr/>
          <p:nvPr/>
        </p:nvSpPr>
        <p:spPr>
          <a:xfrm>
            <a:off x="442913" y="4924723"/>
            <a:ext cx="1333621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小花科技 XIAOHUA FINTECH</a:t>
            </a:r>
            <a:endParaRPr lang="en-US" sz="750" dirty="0"/>
          </a:p>
        </p:txBody>
      </p:sp>
      <p:sp>
        <p:nvSpPr>
          <p:cNvPr id="52" name="Text 31"/>
          <p:cNvSpPr/>
          <p:nvPr/>
        </p:nvSpPr>
        <p:spPr>
          <a:xfrm>
            <a:off x="8547022" y="4899720"/>
            <a:ext cx="311228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第 2 页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2026-04-25T16:38:32Z</dcterms:created>
  <dcterms:modified xsi:type="dcterms:W3CDTF">2026-04-25T16:38:32Z</dcterms:modified>
</cp:coreProperties>
</file>