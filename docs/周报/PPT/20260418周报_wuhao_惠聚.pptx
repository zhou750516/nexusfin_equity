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72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92931"/>
            <a:ext cx="9144000" cy="14288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5" name="Text 2"/>
          <p:cNvSpPr/>
          <p:nvPr/>
        </p:nvSpPr>
        <p:spPr>
          <a:xfrm>
            <a:off x="450056" y="161627"/>
            <a:ext cx="5489609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技术周报：惠聚项目 — 研发主线端到端闭环，外部依赖成最大卡点</a:t>
            </a:r>
            <a:endParaRPr lang="en-US" sz="1295" dirty="0"/>
          </a:p>
        </p:txBody>
      </p:sp>
      <p:sp>
        <p:nvSpPr>
          <p:cNvPr id="6" name="Shape 3"/>
          <p:cNvSpPr/>
          <p:nvPr/>
        </p:nvSpPr>
        <p:spPr>
          <a:xfrm>
            <a:off x="6429375" y="142875"/>
            <a:ext cx="2428875" cy="307181"/>
          </a:xfrm>
          <a:prstGeom prst="rect">
            <a:avLst/>
          </a:prstGeom>
          <a:solidFill>
            <a:srgbClr val="FEF2F2"/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75" y="142875"/>
            <a:ext cx="2428875" cy="30718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项目状态：存在阻塞风险，外部依赖待突破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292894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94" y="836712"/>
            <a:ext cx="160734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9366" y="807244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一、产品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292894" y="1080492"/>
            <a:ext cx="686972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2" name="Shape 8"/>
          <p:cNvSpPr/>
          <p:nvPr/>
        </p:nvSpPr>
        <p:spPr>
          <a:xfrm>
            <a:off x="972722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9"/>
          <p:cNvSpPr/>
          <p:nvPr/>
        </p:nvSpPr>
        <p:spPr>
          <a:xfrm>
            <a:off x="292894" y="1364456"/>
            <a:ext cx="686972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0"/>
          <p:cNvSpPr/>
          <p:nvPr/>
        </p:nvSpPr>
        <p:spPr>
          <a:xfrm>
            <a:off x="292894" y="1080492"/>
            <a:ext cx="686972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事项</a:t>
            </a:r>
            <a:endParaRPr lang="en-US" sz="683" dirty="0"/>
          </a:p>
        </p:txBody>
      </p:sp>
      <p:sp>
        <p:nvSpPr>
          <p:cNvPr id="15" name="Shape 11"/>
          <p:cNvSpPr/>
          <p:nvPr/>
        </p:nvSpPr>
        <p:spPr>
          <a:xfrm>
            <a:off x="979866" y="1080492"/>
            <a:ext cx="549594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6" name="Shape 12"/>
          <p:cNvSpPr/>
          <p:nvPr/>
        </p:nvSpPr>
        <p:spPr>
          <a:xfrm>
            <a:off x="1522316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3"/>
          <p:cNvSpPr/>
          <p:nvPr/>
        </p:nvSpPr>
        <p:spPr>
          <a:xfrm>
            <a:off x="979866" y="1364456"/>
            <a:ext cx="54959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4"/>
          <p:cNvSpPr/>
          <p:nvPr/>
        </p:nvSpPr>
        <p:spPr>
          <a:xfrm>
            <a:off x="979866" y="1080492"/>
            <a:ext cx="549594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状态</a:t>
            </a:r>
            <a:endParaRPr lang="en-US" sz="683" dirty="0"/>
          </a:p>
        </p:txBody>
      </p:sp>
      <p:sp>
        <p:nvSpPr>
          <p:cNvPr id="19" name="Shape 15"/>
          <p:cNvSpPr/>
          <p:nvPr/>
        </p:nvSpPr>
        <p:spPr>
          <a:xfrm>
            <a:off x="1529460" y="1080492"/>
            <a:ext cx="1511405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0" name="Shape 16"/>
          <p:cNvSpPr/>
          <p:nvPr/>
        </p:nvSpPr>
        <p:spPr>
          <a:xfrm>
            <a:off x="1529460" y="1364456"/>
            <a:ext cx="151140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1529460" y="1080492"/>
            <a:ext cx="1511405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关键节点 / 进展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292894" y="1368028"/>
            <a:ext cx="686972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小花接口串联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979866" y="1368028"/>
            <a:ext cx="549594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</a:t>
            </a:r>
            <a:endParaRPr lang="en-US" sz="683" dirty="0"/>
          </a:p>
        </p:txBody>
      </p:sp>
      <p:sp>
        <p:nvSpPr>
          <p:cNvPr id="24" name="Text 20"/>
          <p:cNvSpPr/>
          <p:nvPr/>
        </p:nvSpPr>
        <p:spPr>
          <a:xfrm>
            <a:off x="1529460" y="1368028"/>
            <a:ext cx="1511405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完成与小花研发串联接口字段，待小花侧更新接口文档。</a:t>
            </a:r>
            <a:endParaRPr lang="en-US" sz="727" dirty="0"/>
          </a:p>
        </p:txBody>
      </p:sp>
      <p:sp>
        <p:nvSpPr>
          <p:cNvPr id="25" name="Text 21"/>
          <p:cNvSpPr/>
          <p:nvPr/>
        </p:nvSpPr>
        <p:spPr>
          <a:xfrm>
            <a:off x="292894" y="1832372"/>
            <a:ext cx="686972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供应商流程</a:t>
            </a:r>
            <a:endParaRPr lang="en-US" sz="683" dirty="0"/>
          </a:p>
        </p:txBody>
      </p:sp>
      <p:sp>
        <p:nvSpPr>
          <p:cNvPr id="26" name="Text 22"/>
          <p:cNvSpPr/>
          <p:nvPr/>
        </p:nvSpPr>
        <p:spPr>
          <a:xfrm>
            <a:off x="979866" y="1832372"/>
            <a:ext cx="549594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</a:t>
            </a:r>
            <a:endParaRPr lang="en-US" sz="683" dirty="0"/>
          </a:p>
        </p:txBody>
      </p:sp>
      <p:sp>
        <p:nvSpPr>
          <p:cNvPr id="27" name="Text 23"/>
          <p:cNvSpPr/>
          <p:nvPr/>
        </p:nvSpPr>
        <p:spPr>
          <a:xfrm>
            <a:off x="1529460" y="1832372"/>
            <a:ext cx="1511405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与权益供应商完成产品流程调整沟通确认，待对方更新接口文档。</a:t>
            </a:r>
            <a:endParaRPr lang="en-US" sz="727" dirty="0"/>
          </a:p>
        </p:txBody>
      </p:sp>
      <p:sp>
        <p:nvSpPr>
          <p:cNvPr id="28" name="Shape 24"/>
          <p:cNvSpPr/>
          <p:nvPr/>
        </p:nvSpPr>
        <p:spPr>
          <a:xfrm>
            <a:off x="3198028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28" y="836712"/>
            <a:ext cx="160734" cy="128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544500" y="807244"/>
            <a:ext cx="51435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二、研发</a:t>
            </a:r>
            <a:endParaRPr lang="en-US" sz="885" dirty="0"/>
          </a:p>
        </p:txBody>
      </p:sp>
      <p:sp>
        <p:nvSpPr>
          <p:cNvPr id="31" name="Shape 26"/>
          <p:cNvSpPr/>
          <p:nvPr/>
        </p:nvSpPr>
        <p:spPr>
          <a:xfrm>
            <a:off x="3198028" y="1080492"/>
            <a:ext cx="686972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2" name="Shape 27"/>
          <p:cNvSpPr/>
          <p:nvPr/>
        </p:nvSpPr>
        <p:spPr>
          <a:xfrm>
            <a:off x="3877856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28"/>
          <p:cNvSpPr/>
          <p:nvPr/>
        </p:nvSpPr>
        <p:spPr>
          <a:xfrm>
            <a:off x="3198028" y="1364456"/>
            <a:ext cx="686972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29"/>
          <p:cNvSpPr/>
          <p:nvPr/>
        </p:nvSpPr>
        <p:spPr>
          <a:xfrm>
            <a:off x="3198028" y="1080492"/>
            <a:ext cx="686972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里程碑</a:t>
            </a:r>
            <a:endParaRPr lang="en-US" sz="683" dirty="0"/>
          </a:p>
        </p:txBody>
      </p:sp>
      <p:sp>
        <p:nvSpPr>
          <p:cNvPr id="35" name="Shape 30"/>
          <p:cNvSpPr/>
          <p:nvPr/>
        </p:nvSpPr>
        <p:spPr>
          <a:xfrm>
            <a:off x="3885000" y="1080492"/>
            <a:ext cx="549594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6" name="Shape 31"/>
          <p:cNvSpPr/>
          <p:nvPr/>
        </p:nvSpPr>
        <p:spPr>
          <a:xfrm>
            <a:off x="4427451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2"/>
          <p:cNvSpPr/>
          <p:nvPr/>
        </p:nvSpPr>
        <p:spPr>
          <a:xfrm>
            <a:off x="3885000" y="1364456"/>
            <a:ext cx="54959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3"/>
          <p:cNvSpPr/>
          <p:nvPr/>
        </p:nvSpPr>
        <p:spPr>
          <a:xfrm>
            <a:off x="3885000" y="1080492"/>
            <a:ext cx="549594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状态</a:t>
            </a:r>
            <a:endParaRPr lang="en-US" sz="683" dirty="0"/>
          </a:p>
        </p:txBody>
      </p:sp>
      <p:sp>
        <p:nvSpPr>
          <p:cNvPr id="39" name="Shape 34"/>
          <p:cNvSpPr/>
          <p:nvPr/>
        </p:nvSpPr>
        <p:spPr>
          <a:xfrm>
            <a:off x="4434594" y="1080492"/>
            <a:ext cx="1511405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0" name="Shape 35"/>
          <p:cNvSpPr/>
          <p:nvPr/>
        </p:nvSpPr>
        <p:spPr>
          <a:xfrm>
            <a:off x="4434594" y="1364456"/>
            <a:ext cx="151140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6"/>
          <p:cNvSpPr/>
          <p:nvPr/>
        </p:nvSpPr>
        <p:spPr>
          <a:xfrm>
            <a:off x="4434594" y="1080492"/>
            <a:ext cx="1511405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关键节点 / 进展</a:t>
            </a:r>
            <a:endParaRPr lang="en-US" sz="683" dirty="0"/>
          </a:p>
        </p:txBody>
      </p:sp>
      <p:sp>
        <p:nvSpPr>
          <p:cNvPr id="42" name="Text 37"/>
          <p:cNvSpPr/>
          <p:nvPr/>
        </p:nvSpPr>
        <p:spPr>
          <a:xfrm>
            <a:off x="3198028" y="1368028"/>
            <a:ext cx="686972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端到端闭环</a:t>
            </a:r>
            <a:endParaRPr lang="en-US" sz="683" dirty="0"/>
          </a:p>
        </p:txBody>
      </p:sp>
      <p:sp>
        <p:nvSpPr>
          <p:cNvPr id="43" name="Text 38"/>
          <p:cNvSpPr/>
          <p:nvPr/>
        </p:nvSpPr>
        <p:spPr>
          <a:xfrm>
            <a:off x="3885000" y="1368028"/>
            <a:ext cx="549594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</a:t>
            </a:r>
            <a:endParaRPr lang="en-US" sz="683" dirty="0"/>
          </a:p>
        </p:txBody>
      </p:sp>
      <p:sp>
        <p:nvSpPr>
          <p:cNvPr id="44" name="Text 39"/>
          <p:cNvSpPr/>
          <p:nvPr/>
        </p:nvSpPr>
        <p:spPr>
          <a:xfrm>
            <a:off x="4434594" y="1368028"/>
            <a:ext cx="1511405" cy="60900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H5后端接口、多语言、页面联调和异步补偿机制形成完整闭环。</a:t>
            </a:r>
            <a:endParaRPr lang="en-US" sz="727" dirty="0"/>
          </a:p>
        </p:txBody>
      </p:sp>
      <p:sp>
        <p:nvSpPr>
          <p:cNvPr id="45" name="Text 40"/>
          <p:cNvSpPr/>
          <p:nvPr/>
        </p:nvSpPr>
        <p:spPr>
          <a:xfrm>
            <a:off x="3198028" y="1977033"/>
            <a:ext cx="686972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联调准备</a:t>
            </a:r>
            <a:endParaRPr lang="en-US" sz="683" dirty="0"/>
          </a:p>
        </p:txBody>
      </p:sp>
      <p:sp>
        <p:nvSpPr>
          <p:cNvPr id="46" name="Text 41"/>
          <p:cNvSpPr/>
          <p:nvPr/>
        </p:nvSpPr>
        <p:spPr>
          <a:xfrm>
            <a:off x="3885000" y="1977033"/>
            <a:ext cx="549594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0B98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</a:t>
            </a:r>
            <a:endParaRPr lang="en-US" sz="683" dirty="0"/>
          </a:p>
        </p:txBody>
      </p:sp>
      <p:sp>
        <p:nvSpPr>
          <p:cNvPr id="47" name="Text 42"/>
          <p:cNvSpPr/>
          <p:nvPr/>
        </p:nvSpPr>
        <p:spPr>
          <a:xfrm>
            <a:off x="4434594" y="1977033"/>
            <a:ext cx="1511405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云服务器部署与模拟数据测试完成，具备真实联调基础。</a:t>
            </a:r>
            <a:endParaRPr lang="en-US" sz="727" dirty="0"/>
          </a:p>
        </p:txBody>
      </p:sp>
      <p:sp>
        <p:nvSpPr>
          <p:cNvPr id="48" name="Shape 43"/>
          <p:cNvSpPr/>
          <p:nvPr/>
        </p:nvSpPr>
        <p:spPr>
          <a:xfrm>
            <a:off x="6103162" y="721519"/>
            <a:ext cx="2747972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462" y="836712"/>
            <a:ext cx="160734" cy="128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449634" y="807244"/>
            <a:ext cx="175727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三、商务（供应商·法务·其它）</a:t>
            </a:r>
            <a:endParaRPr lang="en-US" sz="885" dirty="0"/>
          </a:p>
        </p:txBody>
      </p:sp>
      <p:sp>
        <p:nvSpPr>
          <p:cNvPr id="51" name="Shape 45"/>
          <p:cNvSpPr/>
          <p:nvPr/>
        </p:nvSpPr>
        <p:spPr>
          <a:xfrm>
            <a:off x="6103162" y="1080492"/>
            <a:ext cx="686972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2" name="Shape 46"/>
          <p:cNvSpPr/>
          <p:nvPr/>
        </p:nvSpPr>
        <p:spPr>
          <a:xfrm>
            <a:off x="6782991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47"/>
          <p:cNvSpPr/>
          <p:nvPr/>
        </p:nvSpPr>
        <p:spPr>
          <a:xfrm>
            <a:off x="6103162" y="1364456"/>
            <a:ext cx="686972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48"/>
          <p:cNvSpPr/>
          <p:nvPr/>
        </p:nvSpPr>
        <p:spPr>
          <a:xfrm>
            <a:off x="6103162" y="1080492"/>
            <a:ext cx="686972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事项</a:t>
            </a:r>
            <a:endParaRPr lang="en-US" sz="683" dirty="0"/>
          </a:p>
        </p:txBody>
      </p:sp>
      <p:sp>
        <p:nvSpPr>
          <p:cNvPr id="55" name="Shape 49"/>
          <p:cNvSpPr/>
          <p:nvPr/>
        </p:nvSpPr>
        <p:spPr>
          <a:xfrm>
            <a:off x="6790134" y="1080492"/>
            <a:ext cx="549594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6" name="Shape 50"/>
          <p:cNvSpPr/>
          <p:nvPr/>
        </p:nvSpPr>
        <p:spPr>
          <a:xfrm>
            <a:off x="7332585" y="1080492"/>
            <a:ext cx="7144" cy="29110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1"/>
          <p:cNvSpPr/>
          <p:nvPr/>
        </p:nvSpPr>
        <p:spPr>
          <a:xfrm>
            <a:off x="6790134" y="1364456"/>
            <a:ext cx="549594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2"/>
          <p:cNvSpPr/>
          <p:nvPr/>
        </p:nvSpPr>
        <p:spPr>
          <a:xfrm>
            <a:off x="6790134" y="1080492"/>
            <a:ext cx="549594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状态</a:t>
            </a:r>
            <a:endParaRPr lang="en-US" sz="683" dirty="0"/>
          </a:p>
        </p:txBody>
      </p:sp>
      <p:sp>
        <p:nvSpPr>
          <p:cNvPr id="59" name="Shape 53"/>
          <p:cNvSpPr/>
          <p:nvPr/>
        </p:nvSpPr>
        <p:spPr>
          <a:xfrm>
            <a:off x="7339729" y="1080492"/>
            <a:ext cx="1511405" cy="29110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60" name="Shape 54"/>
          <p:cNvSpPr/>
          <p:nvPr/>
        </p:nvSpPr>
        <p:spPr>
          <a:xfrm>
            <a:off x="7339729" y="1364456"/>
            <a:ext cx="1511405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5"/>
          <p:cNvSpPr/>
          <p:nvPr/>
        </p:nvSpPr>
        <p:spPr>
          <a:xfrm>
            <a:off x="7339729" y="1080492"/>
            <a:ext cx="1511405" cy="29110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关键节点 / 进展</a:t>
            </a:r>
            <a:endParaRPr lang="en-US" sz="683" dirty="0"/>
          </a:p>
        </p:txBody>
      </p:sp>
      <p:sp>
        <p:nvSpPr>
          <p:cNvPr id="62" name="Text 56"/>
          <p:cNvSpPr/>
          <p:nvPr/>
        </p:nvSpPr>
        <p:spPr>
          <a:xfrm>
            <a:off x="6103162" y="1368028"/>
            <a:ext cx="686972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澳门研究院</a:t>
            </a:r>
            <a:endParaRPr lang="en-US" sz="683" dirty="0"/>
          </a:p>
        </p:txBody>
      </p:sp>
      <p:sp>
        <p:nvSpPr>
          <p:cNvPr id="63" name="Text 57"/>
          <p:cNvSpPr/>
          <p:nvPr/>
        </p:nvSpPr>
        <p:spPr>
          <a:xfrm>
            <a:off x="6790134" y="1368028"/>
            <a:ext cx="549594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阻塞</a:t>
            </a:r>
            <a:endParaRPr lang="en-US" sz="683" dirty="0"/>
          </a:p>
        </p:txBody>
      </p:sp>
      <p:sp>
        <p:nvSpPr>
          <p:cNvPr id="64" name="Text 58"/>
          <p:cNvSpPr/>
          <p:nvPr/>
        </p:nvSpPr>
        <p:spPr>
          <a:xfrm>
            <a:off x="7339729" y="1368028"/>
            <a:ext cx="1511405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进展缓慢，下周再无进展将严重阻塞项目整体进度。</a:t>
            </a:r>
            <a:endParaRPr lang="en-US" sz="727" dirty="0"/>
          </a:p>
        </p:txBody>
      </p:sp>
      <p:sp>
        <p:nvSpPr>
          <p:cNvPr id="65" name="Text 59"/>
          <p:cNvSpPr/>
          <p:nvPr/>
        </p:nvSpPr>
        <p:spPr>
          <a:xfrm>
            <a:off x="6103162" y="1832372"/>
            <a:ext cx="686972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外部文档</a:t>
            </a:r>
            <a:endParaRPr lang="en-US" sz="683" dirty="0"/>
          </a:p>
        </p:txBody>
      </p:sp>
      <p:sp>
        <p:nvSpPr>
          <p:cNvPr id="66" name="Text 60"/>
          <p:cNvSpPr/>
          <p:nvPr/>
        </p:nvSpPr>
        <p:spPr>
          <a:xfrm>
            <a:off x="6790134" y="1832372"/>
            <a:ext cx="549594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59E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推进中</a:t>
            </a:r>
            <a:endParaRPr lang="en-US" sz="683" dirty="0"/>
          </a:p>
        </p:txBody>
      </p:sp>
      <p:sp>
        <p:nvSpPr>
          <p:cNvPr id="67" name="Text 61"/>
          <p:cNvSpPr/>
          <p:nvPr/>
        </p:nvSpPr>
        <p:spPr>
          <a:xfrm>
            <a:off x="7339729" y="1832372"/>
            <a:ext cx="1511405" cy="464344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齐为真实供应商跳转、退款协议、绑卡接口文档仍待补齐。</a:t>
            </a:r>
            <a:endParaRPr lang="en-US" sz="727" dirty="0"/>
          </a:p>
        </p:txBody>
      </p:sp>
      <p:sp>
        <p:nvSpPr>
          <p:cNvPr id="68" name="Shape 62"/>
          <p:cNvSpPr/>
          <p:nvPr/>
        </p:nvSpPr>
        <p:spPr>
          <a:xfrm>
            <a:off x="285750" y="2591395"/>
            <a:ext cx="8572500" cy="1030095"/>
          </a:xfrm>
          <a:prstGeom prst="rect">
            <a:avLst/>
          </a:prstGeom>
          <a:solidFill>
            <a:srgbClr val="FEF2F2"/>
          </a:solidFill>
          <a:ln w="9144">
            <a:solidFill>
              <a:srgbClr val="FCA5A5"/>
            </a:solidFill>
            <a:prstDash val="solid"/>
          </a:ln>
        </p:spPr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719983"/>
            <a:ext cx="171450" cy="171450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707231" y="2705695"/>
            <a:ext cx="800814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风险 &amp; 诉求</a:t>
            </a:r>
            <a:endParaRPr lang="en-US" sz="784" dirty="0"/>
          </a:p>
        </p:txBody>
      </p:sp>
      <p:sp>
        <p:nvSpPr>
          <p:cNvPr id="71" name="Text 64"/>
          <p:cNvSpPr/>
          <p:nvPr/>
        </p:nvSpPr>
        <p:spPr>
          <a:xfrm>
            <a:off x="799402" y="2927152"/>
            <a:ext cx="6000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【商务阻塞】</a:t>
            </a:r>
            <a:endParaRPr lang="en-US" sz="683" dirty="0"/>
          </a:p>
        </p:txBody>
      </p:sp>
      <p:sp>
        <p:nvSpPr>
          <p:cNvPr id="72" name="Text 65"/>
          <p:cNvSpPr/>
          <p:nvPr/>
        </p:nvSpPr>
        <p:spPr>
          <a:xfrm>
            <a:off x="1456627" y="2927152"/>
            <a:ext cx="41005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澳门研究院进展缓慢，若下周无实质突破，将严重影响项目整体交付节奏，需高层介入协调。</a:t>
            </a:r>
            <a:endParaRPr lang="en-US" sz="727" dirty="0"/>
          </a:p>
        </p:txBody>
      </p:sp>
      <p:sp>
        <p:nvSpPr>
          <p:cNvPr id="73" name="Text 66"/>
          <p:cNvSpPr/>
          <p:nvPr/>
        </p:nvSpPr>
        <p:spPr>
          <a:xfrm>
            <a:off x="799402" y="3115735"/>
            <a:ext cx="6000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【联调依赖】</a:t>
            </a:r>
            <a:endParaRPr lang="en-US" sz="683" dirty="0"/>
          </a:p>
        </p:txBody>
      </p:sp>
      <p:sp>
        <p:nvSpPr>
          <p:cNvPr id="74" name="Text 67"/>
          <p:cNvSpPr/>
          <p:nvPr/>
        </p:nvSpPr>
        <p:spPr>
          <a:xfrm>
            <a:off x="1456627" y="3115735"/>
            <a:ext cx="44005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齐为真实供应商跳转、退款协议、绑卡接口文档缺失，正式联调和最终字段映射受阻，需商务催办。</a:t>
            </a:r>
            <a:endParaRPr lang="en-US" sz="727" dirty="0"/>
          </a:p>
        </p:txBody>
      </p:sp>
      <p:sp>
        <p:nvSpPr>
          <p:cNvPr id="75" name="Text 68"/>
          <p:cNvSpPr/>
          <p:nvPr/>
        </p:nvSpPr>
        <p:spPr>
          <a:xfrm>
            <a:off x="799402" y="3304319"/>
            <a:ext cx="6000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【外部配合】</a:t>
            </a:r>
            <a:endParaRPr lang="en-US" sz="683" dirty="0"/>
          </a:p>
        </p:txBody>
      </p:sp>
      <p:sp>
        <p:nvSpPr>
          <p:cNvPr id="76" name="Text 69"/>
          <p:cNvSpPr/>
          <p:nvPr/>
        </p:nvSpPr>
        <p:spPr>
          <a:xfrm>
            <a:off x="1456627" y="3304319"/>
            <a:ext cx="48006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研发侧已完成本地闭环，但真实联调强依赖云卡、小花、齐为、科技平台侧配合，需继续推进外部资料更新。</a:t>
            </a:r>
            <a:endParaRPr lang="en-US" sz="727" dirty="0"/>
          </a:p>
        </p:txBody>
      </p:sp>
      <p:sp>
        <p:nvSpPr>
          <p:cNvPr id="77" name="Shape 70"/>
          <p:cNvSpPr/>
          <p:nvPr/>
        </p:nvSpPr>
        <p:spPr>
          <a:xfrm>
            <a:off x="285750" y="3750078"/>
            <a:ext cx="8572500" cy="79295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7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3889381"/>
            <a:ext cx="100013" cy="114300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600075" y="3864378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下周核心计划提炼</a:t>
            </a:r>
            <a:endParaRPr lang="en-US" sz="784" dirty="0"/>
          </a:p>
        </p:txBody>
      </p:sp>
      <p:pic>
        <p:nvPicPr>
          <p:cNvPr id="8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4135841"/>
            <a:ext cx="100013" cy="100013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600075" y="4114409"/>
            <a:ext cx="38647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商务与外部推进：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重点突破澳门研究院卡点；催促齐为、小花更新正式接口文档，补齐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真实协议字段映射。</a:t>
            </a:r>
            <a:endParaRPr lang="en-US" sz="683" dirty="0"/>
          </a:p>
        </p:txBody>
      </p:sp>
      <p:pic>
        <p:nvPicPr>
          <p:cNvPr id="8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9156" y="4135841"/>
            <a:ext cx="100013" cy="100013"/>
          </a:xfrm>
          <a:prstGeom prst="rect">
            <a:avLst/>
          </a:prstGeom>
        </p:spPr>
      </p:pic>
      <p:sp>
        <p:nvSpPr>
          <p:cNvPr id="83" name="Text 73"/>
          <p:cNvSpPr/>
          <p:nvPr/>
        </p:nvSpPr>
        <p:spPr>
          <a:xfrm>
            <a:off x="4850606" y="4114409"/>
            <a:ext cx="386476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研发与交付：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真实协议到位后快速适配（小花联合登录、齐为绑卡/退款）；完善异步补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偿机制运维说明。</a:t>
            </a:r>
            <a:endParaRPr lang="en-US" sz="683" dirty="0"/>
          </a:p>
        </p:txBody>
      </p:sp>
      <p:sp>
        <p:nvSpPr>
          <p:cNvPr id="84" name="Shape 74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5750" y="4956870"/>
            <a:ext cx="100013" cy="100013"/>
          </a:xfrm>
          <a:prstGeom prst="rect">
            <a:avLst/>
          </a:prstGeom>
        </p:spPr>
      </p:pic>
      <p:sp>
        <p:nvSpPr>
          <p:cNvPr id="86" name="Text 75"/>
          <p:cNvSpPr/>
          <p:nvPr/>
        </p:nvSpPr>
        <p:spPr>
          <a:xfrm>
            <a:off x="442913" y="4953298"/>
            <a:ext cx="133362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小花科技 XIAOHUA FINTECH</a:t>
            </a:r>
            <a:endParaRPr lang="en-US" sz="727" dirty="0"/>
          </a:p>
        </p:txBody>
      </p:sp>
      <p:sp>
        <p:nvSpPr>
          <p:cNvPr id="87" name="Text 76"/>
          <p:cNvSpPr/>
          <p:nvPr/>
        </p:nvSpPr>
        <p:spPr>
          <a:xfrm>
            <a:off x="8547022" y="4928295"/>
            <a:ext cx="311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 1 页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71500"/>
            <a:ext cx="9144000" cy="14288"/>
          </a:xfrm>
          <a:prstGeom prst="rect">
            <a:avLst/>
          </a:prstGeom>
          <a:solidFill>
            <a:srgbClr val="1A4FA3"/>
          </a:solidFill>
          <a:ln/>
        </p:spPr>
      </p:sp>
      <p:sp>
        <p:nvSpPr>
          <p:cNvPr id="5" name="Text 2"/>
          <p:cNvSpPr/>
          <p:nvPr/>
        </p:nvSpPr>
        <p:spPr>
          <a:xfrm>
            <a:off x="450056" y="150912"/>
            <a:ext cx="4271963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本周技术进展总结：端到端交付闭环与外部依赖卡点</a:t>
            </a:r>
            <a:endParaRPr lang="en-US" sz="1295" dirty="0"/>
          </a:p>
        </p:txBody>
      </p:sp>
      <p:sp>
        <p:nvSpPr>
          <p:cNvPr id="6" name="Shape 3"/>
          <p:cNvSpPr/>
          <p:nvPr/>
        </p:nvSpPr>
        <p:spPr>
          <a:xfrm>
            <a:off x="285750" y="714375"/>
            <a:ext cx="4214813" cy="2373399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5750" y="714375"/>
            <a:ext cx="4214813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829568"/>
            <a:ext cx="16073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222" y="800100"/>
            <a:ext cx="141446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一、齐为联调与主链推进</a:t>
            </a:r>
            <a:endParaRPr lang="en-US" sz="88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187648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71500" y="1159073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H5 权益主流程：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完成接口与页面联调基础能力建设，权益详情、开通、购买成功后借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款申请等主流程已具备本地联调基础。</a:t>
            </a:r>
            <a:endParaRPr lang="en-US" sz="683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564816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1500" y="1536241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产品流程适配：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围绕“先购买权益、再提交用信”，完成权益购买成功但借款申请失败的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后端返回与前端展示口径确认。</a:t>
            </a:r>
            <a:endParaRPr lang="en-US" sz="683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1941984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71500" y="1913409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绑卡流程新增：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完成银行卡签约状态查询、申请绑卡短信下发、短信验证绑卡确认接口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待办沉淀，待齐为补充正式文档。</a:t>
            </a:r>
            <a:endParaRPr lang="en-US" sz="683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2319151"/>
            <a:ext cx="100013" cy="1000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71500" y="2290576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分发与退款骨架：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完成分发页、退款页、权益状态回推的技术方案与第一轮骨架建设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（含状态回推日志与失败留痕）。</a:t>
            </a:r>
            <a:endParaRPr lang="en-US" sz="683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2696319"/>
            <a:ext cx="100013" cy="10001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71500" y="2667744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异步补偿机制：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完成齐为权益购买失败/超时场景的异步补偿机制第一阶段建设（任务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持久化、分片处理、重试退避、幂等保护）。</a:t>
            </a:r>
            <a:endParaRPr lang="en-US" sz="683" dirty="0"/>
          </a:p>
        </p:txBody>
      </p:sp>
      <p:sp>
        <p:nvSpPr>
          <p:cNvPr id="20" name="Shape 11"/>
          <p:cNvSpPr/>
          <p:nvPr/>
        </p:nvSpPr>
        <p:spPr>
          <a:xfrm>
            <a:off x="285750" y="3159212"/>
            <a:ext cx="4214813" cy="864729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285750" y="3159212"/>
            <a:ext cx="4214813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3274405"/>
            <a:ext cx="128588" cy="1285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00075" y="3244937"/>
            <a:ext cx="1285875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二、云卡运行环境准备</a:t>
            </a:r>
            <a:endParaRPr lang="en-US" sz="885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3632485"/>
            <a:ext cx="100013" cy="100013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71500" y="3603910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云端部署与测试：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本周在云服务器做了部署和模拟数据测试，完成了真实联调的基础准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备工作。</a:t>
            </a:r>
            <a:endParaRPr lang="en-US" sz="683" dirty="0"/>
          </a:p>
        </p:txBody>
      </p:sp>
      <p:sp>
        <p:nvSpPr>
          <p:cNvPr id="26" name="Shape 15"/>
          <p:cNvSpPr/>
          <p:nvPr/>
        </p:nvSpPr>
        <p:spPr>
          <a:xfrm>
            <a:off x="4643438" y="714375"/>
            <a:ext cx="4214813" cy="2258764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4643438" y="714375"/>
            <a:ext cx="4214813" cy="358973"/>
          </a:xfrm>
          <a:prstGeom prst="rect">
            <a:avLst/>
          </a:prstGeom>
          <a:solidFill>
            <a:srgbClr val="FFC000"/>
          </a:solidFill>
          <a:ln/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7738" y="829568"/>
            <a:ext cx="160734" cy="12858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989909" y="800100"/>
            <a:ext cx="202157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三、AiCoding 本周思考与价值提炼</a:t>
            </a:r>
            <a:endParaRPr lang="en-US" sz="885" dirty="0"/>
          </a:p>
        </p:txBody>
      </p:sp>
      <p:sp>
        <p:nvSpPr>
          <p:cNvPr id="30" name="Text 18"/>
          <p:cNvSpPr/>
          <p:nvPr/>
        </p:nvSpPr>
        <p:spPr>
          <a:xfrm>
            <a:off x="4757738" y="1159073"/>
            <a:ext cx="3986213" cy="205383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核心结论：AI 已从边界收口工具升级为端到端交付闭环助手</a:t>
            </a:r>
            <a:endParaRPr lang="en-US" sz="734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7738" y="1450181"/>
            <a:ext cx="75009" cy="100013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4904184" y="1421606"/>
            <a:ext cx="38397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H5 后端交付提速：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拆分任务组并推进 10 个 H5 后端接口主体实现，完成阶段性集成测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试和代码规范检查。</a:t>
            </a:r>
            <a:endParaRPr lang="en-US" sz="683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7738" y="1827349"/>
            <a:ext cx="100013" cy="100013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929188" y="1798774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多语言体系落地：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支持简/繁中、英、越南文，覆盖 H5 页面、后端接口、协议标题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等，完成动态接口重拉问题收口。</a:t>
            </a:r>
            <a:endParaRPr lang="en-US" sz="683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57738" y="2204517"/>
            <a:ext cx="100013" cy="100013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4929188" y="2175942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页面级联调排障：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协助完成 H5 六个主页面本地联调、MySQL 落库核验，快速定位云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卡模式配置等多项问题。</a:t>
            </a:r>
            <a:endParaRPr lang="en-US" sz="683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57738" y="2581684"/>
            <a:ext cx="100013" cy="100013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4929188" y="2553109"/>
            <a:ext cx="38147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外部依赖边界控制：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针对多方外部依赖，持续区分“可推进、待确认、暂不进入”，避免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文档未齐时抢跑实现。</a:t>
            </a:r>
            <a:endParaRPr lang="en-US" sz="683" dirty="0"/>
          </a:p>
        </p:txBody>
      </p:sp>
      <p:sp>
        <p:nvSpPr>
          <p:cNvPr id="39" name="Shape 23"/>
          <p:cNvSpPr/>
          <p:nvPr/>
        </p:nvSpPr>
        <p:spPr>
          <a:xfrm>
            <a:off x="4643438" y="3044577"/>
            <a:ext cx="4214813" cy="1619064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0" name="Shape 24"/>
          <p:cNvSpPr/>
          <p:nvPr/>
        </p:nvSpPr>
        <p:spPr>
          <a:xfrm>
            <a:off x="4643438" y="3044577"/>
            <a:ext cx="4214813" cy="358973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57738" y="3159770"/>
            <a:ext cx="112514" cy="128588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4941689" y="3130302"/>
            <a:ext cx="1028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四、下周技术计划</a:t>
            </a:r>
            <a:endParaRPr lang="en-US" sz="885" dirty="0"/>
          </a:p>
        </p:txBody>
      </p:sp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7738" y="3517850"/>
            <a:ext cx="87511" cy="100013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4916686" y="3489275"/>
            <a:ext cx="382726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外部协议适配：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优先根据齐为更新的接口文档，补齐真实协议字段映射、签名/加解密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边界和联调检查项。</a:t>
            </a:r>
            <a:endParaRPr lang="en-US" sz="683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7738" y="3895018"/>
            <a:ext cx="87511" cy="100013"/>
          </a:xfrm>
          <a:prstGeom prst="rect">
            <a:avLst/>
          </a:prstGeom>
        </p:spPr>
      </p:pic>
      <p:sp>
        <p:nvSpPr>
          <p:cNvPr id="46" name="Text 27"/>
          <p:cNvSpPr/>
          <p:nvPr/>
        </p:nvSpPr>
        <p:spPr>
          <a:xfrm>
            <a:off x="4916686" y="3866443"/>
            <a:ext cx="382726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异步补偿运维：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优先补齐异步补偿机制的运维承接说明、人工介入流程、控制器级返回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口径核对和运行边界说明。</a:t>
            </a:r>
            <a:endParaRPr lang="en-US" sz="683" dirty="0"/>
          </a:p>
        </p:txBody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7738" y="4272186"/>
            <a:ext cx="87511" cy="100013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4916686" y="4243611"/>
            <a:ext cx="382726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4FA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真实联调排障：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真实联调阶段继续让 AI 辅助区分环境、数据、契约、本侧代码和外部</a:t>
            </a:r>
            <a:r>
              <a:rPr lang="en-US" sz="727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依赖问题，降低排障成本。</a:t>
            </a:r>
            <a:endParaRPr lang="en-US" sz="683" dirty="0"/>
          </a:p>
        </p:txBody>
      </p:sp>
      <p:sp>
        <p:nvSpPr>
          <p:cNvPr id="49" name="Shape 2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1A4FA3"/>
          </a:solidFill>
          <a:ln/>
        </p:spPr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5750" y="4956870"/>
            <a:ext cx="100013" cy="100013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442913" y="4953298"/>
            <a:ext cx="133362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小花科技 XIAOHUA FINTECH</a:t>
            </a:r>
            <a:endParaRPr lang="en-US" sz="727" dirty="0"/>
          </a:p>
        </p:txBody>
      </p:sp>
      <p:sp>
        <p:nvSpPr>
          <p:cNvPr id="52" name="Text 31"/>
          <p:cNvSpPr/>
          <p:nvPr/>
        </p:nvSpPr>
        <p:spPr>
          <a:xfrm>
            <a:off x="8547022" y="4928295"/>
            <a:ext cx="31122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 2 页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2026-04-18T13:42:06Z</dcterms:created>
  <dcterms:modified xsi:type="dcterms:W3CDTF">2026-04-18T13:42:06Z</dcterms:modified>
</cp:coreProperties>
</file>