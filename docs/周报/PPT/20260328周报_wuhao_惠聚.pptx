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241935"/>
            <a:ext cx="6616065" cy="3206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技术周报：惠聚项目 — 产品方案加速收口，电子签章切换法大大，研发核心链路落地</a:t>
            </a:r>
            <a:endParaRPr lang="en-US" sz="1295" dirty="0"/>
          </a:p>
        </p:txBody>
      </p:sp>
      <p:sp>
        <p:nvSpPr>
          <p:cNvPr id="4" name="Shape 1"/>
          <p:cNvSpPr/>
          <p:nvPr/>
        </p:nvSpPr>
        <p:spPr>
          <a:xfrm>
            <a:off x="7041515" y="247015"/>
            <a:ext cx="1816735" cy="269240"/>
          </a:xfrm>
          <a:prstGeom prst="rect">
            <a:avLst/>
          </a:prstGeom>
          <a:solidFill>
            <a:srgbClr val="F0FDF4"/>
          </a:solidFill>
          <a:ln w="18288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7823" y="304165"/>
            <a:ext cx="1426127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16653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项目状态：符合预期，正常跟进</a:t>
            </a:r>
            <a:endParaRPr lang="en-US" sz="735" dirty="0"/>
          </a:p>
        </p:txBody>
      </p:sp>
      <p:sp>
        <p:nvSpPr>
          <p:cNvPr id="6" name="Shape 3"/>
          <p:cNvSpPr/>
          <p:nvPr/>
        </p:nvSpPr>
        <p:spPr>
          <a:xfrm>
            <a:off x="285750" y="789384"/>
            <a:ext cx="2786063" cy="269677"/>
          </a:xfrm>
          <a:prstGeom prst="rect">
            <a:avLst/>
          </a:prstGeom>
          <a:solidFill>
            <a:srgbClr val="1A4FA3"/>
          </a:solidFill>
        </p:spPr>
      </p:sp>
      <p:sp>
        <p:nvSpPr>
          <p:cNvPr id="7" name="Text 4"/>
          <p:cNvSpPr/>
          <p:nvPr/>
        </p:nvSpPr>
        <p:spPr>
          <a:xfrm>
            <a:off x="285750" y="789384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一、产品</a:t>
            </a:r>
            <a:endParaRPr lang="en-US" sz="735" dirty="0"/>
          </a:p>
        </p:txBody>
      </p:sp>
      <p:sp>
        <p:nvSpPr>
          <p:cNvPr id="8" name="Shape 5"/>
          <p:cNvSpPr/>
          <p:nvPr/>
        </p:nvSpPr>
        <p:spPr>
          <a:xfrm>
            <a:off x="289322" y="1062633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9322" y="1062633"/>
            <a:ext cx="694730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事项</a:t>
            </a:r>
            <a:endParaRPr lang="en-US" sz="635" dirty="0"/>
          </a:p>
        </p:txBody>
      </p:sp>
      <p:sp>
        <p:nvSpPr>
          <p:cNvPr id="10" name="Shape 7"/>
          <p:cNvSpPr/>
          <p:nvPr/>
        </p:nvSpPr>
        <p:spPr>
          <a:xfrm>
            <a:off x="984052" y="1062633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052" y="1062633"/>
            <a:ext cx="555761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12" name="Shape 9"/>
          <p:cNvSpPr/>
          <p:nvPr/>
        </p:nvSpPr>
        <p:spPr>
          <a:xfrm>
            <a:off x="1539813" y="1062633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39813" y="1062633"/>
            <a:ext cx="1528428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14" name="Shape 11"/>
          <p:cNvSpPr/>
          <p:nvPr/>
        </p:nvSpPr>
        <p:spPr>
          <a:xfrm>
            <a:off x="289322" y="131087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9322" y="1310878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页面流程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984052" y="1310878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4052" y="1310878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进行中</a:t>
            </a:r>
            <a:endParaRPr lang="en-US" sz="635" dirty="0"/>
          </a:p>
        </p:txBody>
      </p:sp>
      <p:sp>
        <p:nvSpPr>
          <p:cNvPr id="18" name="Shape 15"/>
          <p:cNvSpPr/>
          <p:nvPr/>
        </p:nvSpPr>
        <p:spPr>
          <a:xfrm>
            <a:off x="1539813" y="1310878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39813" y="1310878"/>
            <a:ext cx="1528428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还款主流程设计已完成；借款转化链路（页面精简）预计下周一收口</a:t>
            </a:r>
            <a:endParaRPr lang="en-US" sz="675" dirty="0"/>
          </a:p>
        </p:txBody>
      </p:sp>
      <p:sp>
        <p:nvSpPr>
          <p:cNvPr id="20" name="Shape 17"/>
          <p:cNvSpPr/>
          <p:nvPr/>
        </p:nvSpPr>
        <p:spPr>
          <a:xfrm>
            <a:off x="289322" y="1685199"/>
            <a:ext cx="694730" cy="64148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9322" y="1685199"/>
            <a:ext cx="694730" cy="64148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合规与体验</a:t>
            </a:r>
            <a:endParaRPr lang="en-US" sz="675" dirty="0"/>
          </a:p>
        </p:txBody>
      </p:sp>
      <p:sp>
        <p:nvSpPr>
          <p:cNvPr id="22" name="Shape 19"/>
          <p:cNvSpPr/>
          <p:nvPr/>
        </p:nvSpPr>
        <p:spPr>
          <a:xfrm>
            <a:off x="981373" y="1685199"/>
            <a:ext cx="556487" cy="64148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1373" y="1685199"/>
            <a:ext cx="556487" cy="64148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进行中</a:t>
            </a:r>
            <a:endParaRPr lang="en-US" sz="635" dirty="0"/>
          </a:p>
        </p:txBody>
      </p:sp>
      <p:sp>
        <p:nvSpPr>
          <p:cNvPr id="24" name="Shape 21"/>
          <p:cNvSpPr/>
          <p:nvPr/>
        </p:nvSpPr>
        <p:spPr>
          <a:xfrm>
            <a:off x="1537860" y="1685199"/>
            <a:ext cx="1530381" cy="64148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37860" y="1685199"/>
            <a:ext cx="1530381" cy="64148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正与法务联合调整各主体协议，在满足合规要求的前提下，最大程度保障用户转化率，预计下周五产出最终版协议</a:t>
            </a:r>
            <a:endParaRPr lang="en-US" sz="675" dirty="0"/>
          </a:p>
        </p:txBody>
      </p:sp>
      <p:sp>
        <p:nvSpPr>
          <p:cNvPr id="26" name="Shape 23"/>
          <p:cNvSpPr/>
          <p:nvPr/>
        </p:nvSpPr>
        <p:spPr>
          <a:xfrm>
            <a:off x="3178969" y="789384"/>
            <a:ext cx="2786063" cy="269677"/>
          </a:xfrm>
          <a:prstGeom prst="rect">
            <a:avLst/>
          </a:prstGeom>
          <a:solidFill>
            <a:srgbClr val="1A4FA3"/>
          </a:solidFill>
        </p:spPr>
      </p:sp>
      <p:sp>
        <p:nvSpPr>
          <p:cNvPr id="27" name="Text 24"/>
          <p:cNvSpPr/>
          <p:nvPr/>
        </p:nvSpPr>
        <p:spPr>
          <a:xfrm>
            <a:off x="3178969" y="789384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二、研发</a:t>
            </a:r>
            <a:endParaRPr lang="en-US" sz="735" dirty="0"/>
          </a:p>
        </p:txBody>
      </p:sp>
      <p:sp>
        <p:nvSpPr>
          <p:cNvPr id="28" name="Shape 25"/>
          <p:cNvSpPr/>
          <p:nvPr/>
        </p:nvSpPr>
        <p:spPr>
          <a:xfrm>
            <a:off x="3182541" y="1062633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82541" y="1062633"/>
            <a:ext cx="694730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里程碑</a:t>
            </a:r>
            <a:endParaRPr lang="en-US" sz="635" dirty="0"/>
          </a:p>
        </p:txBody>
      </p:sp>
      <p:sp>
        <p:nvSpPr>
          <p:cNvPr id="30" name="Shape 27"/>
          <p:cNvSpPr/>
          <p:nvPr/>
        </p:nvSpPr>
        <p:spPr>
          <a:xfrm>
            <a:off x="3877270" y="1062633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77270" y="1062633"/>
            <a:ext cx="555761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32" name="Shape 29"/>
          <p:cNvSpPr/>
          <p:nvPr/>
        </p:nvSpPr>
        <p:spPr>
          <a:xfrm>
            <a:off x="4433032" y="1062633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33032" y="1062633"/>
            <a:ext cx="1528428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34" name="Shape 31"/>
          <p:cNvSpPr/>
          <p:nvPr/>
        </p:nvSpPr>
        <p:spPr>
          <a:xfrm>
            <a:off x="3182541" y="131087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82541" y="1310878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底层链路</a:t>
            </a:r>
            <a:endParaRPr lang="en-US" sz="675" dirty="0"/>
          </a:p>
        </p:txBody>
      </p:sp>
      <p:sp>
        <p:nvSpPr>
          <p:cNvPr id="36" name="Shape 33"/>
          <p:cNvSpPr/>
          <p:nvPr/>
        </p:nvSpPr>
        <p:spPr>
          <a:xfrm>
            <a:off x="3877270" y="1310878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77270" y="1310878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38" name="Shape 35"/>
          <p:cNvSpPr/>
          <p:nvPr/>
        </p:nvSpPr>
        <p:spPr>
          <a:xfrm>
            <a:off x="4433032" y="1310878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33032" y="1310878"/>
            <a:ext cx="1528428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跨域认证主链路及交易基线（订单/回调）已修复。</a:t>
            </a:r>
            <a:endParaRPr lang="en-US" sz="675" dirty="0"/>
          </a:p>
        </p:txBody>
      </p:sp>
      <p:sp>
        <p:nvSpPr>
          <p:cNvPr id="40" name="Shape 37"/>
          <p:cNvSpPr/>
          <p:nvPr/>
        </p:nvSpPr>
        <p:spPr>
          <a:xfrm>
            <a:off x="3182541" y="1685199"/>
            <a:ext cx="694730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82541" y="1685199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外部系统</a:t>
            </a:r>
            <a:endParaRPr lang="en-US" sz="675" dirty="0"/>
          </a:p>
        </p:txBody>
      </p:sp>
      <p:sp>
        <p:nvSpPr>
          <p:cNvPr id="42" name="Shape 39"/>
          <p:cNvSpPr/>
          <p:nvPr/>
        </p:nvSpPr>
        <p:spPr>
          <a:xfrm>
            <a:off x="3874591" y="1685199"/>
            <a:ext cx="556487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74591" y="1685199"/>
            <a:ext cx="556487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44" name="Shape 41"/>
          <p:cNvSpPr/>
          <p:nvPr/>
        </p:nvSpPr>
        <p:spPr>
          <a:xfrm>
            <a:off x="4431078" y="1685199"/>
            <a:ext cx="1530381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31078" y="1685199"/>
            <a:ext cx="153038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权益方（齐为）接口接入与安全合规（敏感信息加密等）验收完成。</a:t>
            </a:r>
            <a:endParaRPr lang="en-US" sz="675" dirty="0"/>
          </a:p>
        </p:txBody>
      </p:sp>
      <p:sp>
        <p:nvSpPr>
          <p:cNvPr id="46" name="Shape 43"/>
          <p:cNvSpPr/>
          <p:nvPr/>
        </p:nvSpPr>
        <p:spPr>
          <a:xfrm>
            <a:off x="6072188" y="789384"/>
            <a:ext cx="2786063" cy="269677"/>
          </a:xfrm>
          <a:prstGeom prst="rect">
            <a:avLst/>
          </a:prstGeom>
          <a:solidFill>
            <a:srgbClr val="1A4FA3"/>
          </a:solidFill>
        </p:spPr>
      </p:sp>
      <p:sp>
        <p:nvSpPr>
          <p:cNvPr id="47" name="Text 44"/>
          <p:cNvSpPr/>
          <p:nvPr/>
        </p:nvSpPr>
        <p:spPr>
          <a:xfrm>
            <a:off x="6072188" y="789384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三、商务（供应商 · 法务 · 其它）</a:t>
            </a:r>
            <a:endParaRPr lang="en-US" sz="735" dirty="0"/>
          </a:p>
        </p:txBody>
      </p:sp>
      <p:sp>
        <p:nvSpPr>
          <p:cNvPr id="48" name="Shape 45"/>
          <p:cNvSpPr/>
          <p:nvPr/>
        </p:nvSpPr>
        <p:spPr>
          <a:xfrm>
            <a:off x="6075759" y="1062633"/>
            <a:ext cx="778083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75759" y="1062633"/>
            <a:ext cx="778083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事项</a:t>
            </a:r>
            <a:endParaRPr lang="en-US" sz="635" dirty="0"/>
          </a:p>
        </p:txBody>
      </p:sp>
      <p:sp>
        <p:nvSpPr>
          <p:cNvPr id="50" name="Shape 47"/>
          <p:cNvSpPr/>
          <p:nvPr/>
        </p:nvSpPr>
        <p:spPr>
          <a:xfrm>
            <a:off x="6853842" y="1062633"/>
            <a:ext cx="611349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53842" y="1062633"/>
            <a:ext cx="611349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52" name="Shape 49"/>
          <p:cNvSpPr/>
          <p:nvPr/>
        </p:nvSpPr>
        <p:spPr>
          <a:xfrm>
            <a:off x="7465191" y="1062633"/>
            <a:ext cx="1389487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65191" y="1062633"/>
            <a:ext cx="1389487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54" name="Shape 51"/>
          <p:cNvSpPr/>
          <p:nvPr/>
        </p:nvSpPr>
        <p:spPr>
          <a:xfrm>
            <a:off x="6075759" y="1310878"/>
            <a:ext cx="778083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75759" y="1310878"/>
            <a:ext cx="778083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电子签章</a:t>
            </a:r>
            <a:endParaRPr lang="en-US" sz="675" dirty="0"/>
          </a:p>
        </p:txBody>
      </p:sp>
      <p:sp>
        <p:nvSpPr>
          <p:cNvPr id="56" name="Shape 53"/>
          <p:cNvSpPr/>
          <p:nvPr/>
        </p:nvSpPr>
        <p:spPr>
          <a:xfrm>
            <a:off x="6853842" y="1310878"/>
            <a:ext cx="611349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3842" y="1310878"/>
            <a:ext cx="611349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推进中</a:t>
            </a:r>
            <a:endParaRPr lang="en-US" sz="635" dirty="0"/>
          </a:p>
        </p:txBody>
      </p:sp>
      <p:sp>
        <p:nvSpPr>
          <p:cNvPr id="58" name="Shape 55"/>
          <p:cNvSpPr/>
          <p:nvPr/>
        </p:nvSpPr>
        <p:spPr>
          <a:xfrm>
            <a:off x="7465191" y="1310878"/>
            <a:ext cx="1389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65191" y="1310878"/>
            <a:ext cx="1389487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供应商成功切换至“法大大”，合作费用已锁定，合同审核中</a:t>
            </a:r>
            <a:endParaRPr lang="en-US" sz="675" dirty="0"/>
          </a:p>
        </p:txBody>
      </p:sp>
      <p:sp>
        <p:nvSpPr>
          <p:cNvPr id="60" name="Shape 57"/>
          <p:cNvSpPr/>
          <p:nvPr/>
        </p:nvSpPr>
        <p:spPr>
          <a:xfrm>
            <a:off x="6075759" y="1685199"/>
            <a:ext cx="778083" cy="51147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75759" y="1685199"/>
            <a:ext cx="778083" cy="51147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权益供应商</a:t>
            </a:r>
            <a:endParaRPr lang="en-US" sz="675" dirty="0"/>
          </a:p>
        </p:txBody>
      </p:sp>
      <p:sp>
        <p:nvSpPr>
          <p:cNvPr id="62" name="Shape 59"/>
          <p:cNvSpPr/>
          <p:nvPr/>
        </p:nvSpPr>
        <p:spPr>
          <a:xfrm>
            <a:off x="6851275" y="1685199"/>
            <a:ext cx="612130" cy="51147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851275" y="1685199"/>
            <a:ext cx="612130" cy="51147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推进中</a:t>
            </a:r>
            <a:endParaRPr lang="en-US" sz="635" dirty="0"/>
          </a:p>
        </p:txBody>
      </p:sp>
      <p:sp>
        <p:nvSpPr>
          <p:cNvPr id="64" name="Shape 61"/>
          <p:cNvSpPr/>
          <p:nvPr/>
        </p:nvSpPr>
        <p:spPr>
          <a:xfrm>
            <a:off x="7463405" y="1685199"/>
            <a:ext cx="1391273" cy="51147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463405" y="1685199"/>
            <a:ext cx="1391273" cy="51147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核心权益供应商（齐为）合同已完成法务确认，下周进入实质签署阶段</a:t>
            </a:r>
            <a:endParaRPr lang="en-US" sz="675" dirty="0"/>
          </a:p>
        </p:txBody>
      </p:sp>
      <p:sp>
        <p:nvSpPr>
          <p:cNvPr id="66" name="Shape 63"/>
          <p:cNvSpPr/>
          <p:nvPr/>
        </p:nvSpPr>
        <p:spPr>
          <a:xfrm>
            <a:off x="285750" y="3564396"/>
            <a:ext cx="8572500" cy="301823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67" name="Shape 64"/>
          <p:cNvSpPr/>
          <p:nvPr/>
        </p:nvSpPr>
        <p:spPr>
          <a:xfrm>
            <a:off x="285750" y="3564396"/>
            <a:ext cx="35719" cy="301823"/>
          </a:xfrm>
          <a:prstGeom prst="rect">
            <a:avLst/>
          </a:prstGeom>
          <a:solidFill>
            <a:srgbClr val="D32F2F"/>
          </a:solidFill>
        </p:spPr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678696"/>
            <a:ext cx="100013" cy="100013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535781" y="3675125"/>
            <a:ext cx="527856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风险 &amp; 诉求</a:t>
            </a:r>
            <a:endParaRPr lang="en-US" sz="685" dirty="0"/>
          </a:p>
        </p:txBody>
      </p:sp>
      <p:sp>
        <p:nvSpPr>
          <p:cNvPr id="70" name="Text 66"/>
          <p:cNvSpPr/>
          <p:nvPr/>
        </p:nvSpPr>
        <p:spPr>
          <a:xfrm>
            <a:off x="1206512" y="3635834"/>
            <a:ext cx="2863862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【研发/联调】需协调内外部资源，尽快打通第三方测试环境。</a:t>
            </a:r>
            <a:endParaRPr lang="en-US" sz="725" dirty="0"/>
          </a:p>
        </p:txBody>
      </p:sp>
      <p:sp>
        <p:nvSpPr>
          <p:cNvPr id="71" name="Shape 67"/>
          <p:cNvSpPr/>
          <p:nvPr/>
        </p:nvSpPr>
        <p:spPr>
          <a:xfrm>
            <a:off x="285750" y="3973376"/>
            <a:ext cx="8572500" cy="81293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098392"/>
            <a:ext cx="100013" cy="114300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585788" y="4073389"/>
            <a:ext cx="914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下周核心计划提炼</a:t>
            </a:r>
            <a:endParaRPr lang="en-US" sz="785" dirty="0"/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330564"/>
            <a:ext cx="85725" cy="85725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571500" y="4294845"/>
            <a:ext cx="3300413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产品与法务：</a:t>
            </a:r>
            <a:r>
              <a:rPr lang="en-US" sz="72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锁定最终产品方案与各方协议条款，完成合规与体验的平衡。</a:t>
            </a:r>
            <a:endParaRPr lang="en-US" sz="685" dirty="0"/>
          </a:p>
        </p:txBody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533435"/>
            <a:ext cx="85725" cy="85725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571500" y="4497716"/>
            <a:ext cx="2100263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研发与交付：</a:t>
            </a:r>
            <a:r>
              <a:rPr lang="en-US" sz="72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全面启动核心代码开发与外部联调</a:t>
            </a:r>
            <a:endParaRPr lang="en-US" sz="685" dirty="0"/>
          </a:p>
        </p:txBody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4330564"/>
            <a:ext cx="85725" cy="85725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4822031" y="4294845"/>
            <a:ext cx="38933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商务推进：</a:t>
            </a:r>
            <a:r>
              <a:rPr lang="en-US" sz="72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完成法大大、齐为等核心供应商的合同签署；向支付通道提交准入备案材</a:t>
            </a:r>
            <a:r>
              <a:rPr lang="en-US" sz="72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料。</a:t>
            </a:r>
            <a:endParaRPr lang="en-US" sz="685" dirty="0"/>
          </a:p>
        </p:txBody>
      </p:sp>
      <p:sp>
        <p:nvSpPr>
          <p:cNvPr id="80" name="Shape 7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1A4FA3"/>
          </a:solidFill>
        </p:spPr>
      </p:sp>
      <p:pic>
        <p:nvPicPr>
          <p:cNvPr id="8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974729"/>
            <a:ext cx="92869" cy="92869"/>
          </a:xfrm>
          <a:prstGeom prst="rect">
            <a:avLst/>
          </a:prstGeom>
        </p:spPr>
      </p:pic>
      <p:sp>
        <p:nvSpPr>
          <p:cNvPr id="82" name="Text 73"/>
          <p:cNvSpPr/>
          <p:nvPr/>
        </p:nvSpPr>
        <p:spPr>
          <a:xfrm>
            <a:off x="435769" y="4972943"/>
            <a:ext cx="1238380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小花科技 XIAOHUA FINTECH</a:t>
            </a:r>
            <a:endParaRPr lang="en-US" sz="675" dirty="0"/>
          </a:p>
        </p:txBody>
      </p:sp>
      <p:sp>
        <p:nvSpPr>
          <p:cNvPr id="83" name="Text 74"/>
          <p:cNvSpPr/>
          <p:nvPr/>
        </p:nvSpPr>
        <p:spPr>
          <a:xfrm>
            <a:off x="8569235" y="4947940"/>
            <a:ext cx="289015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1 页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WPS 文字</Application>
  <PresentationFormat>On-screen Show (16:9)</PresentationFormat>
  <Paragraphs>80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PingFang SC</vt:lpstr>
      <vt:lpstr>PingFang SC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SKY</cp:lastModifiedBy>
  <cp:revision>2</cp:revision>
  <dcterms:created xsi:type="dcterms:W3CDTF">2026-03-28T13:26:13Z</dcterms:created>
  <dcterms:modified xsi:type="dcterms:W3CDTF">2026-03-28T13:26:13Z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19A2AF0877DBCA06F5D6C7698530EDC6_42</vt:lpwstr>
  </property>
  <property fmtid="{D5CDD505-2E9C-101B-9397-08002B2CF9AE}" pid="3" name="KSOProductBuildVer">
    <vt:lpwstr>2052-12.1.24031.24031</vt:lpwstr>
  </property>
</Properties>
</file>