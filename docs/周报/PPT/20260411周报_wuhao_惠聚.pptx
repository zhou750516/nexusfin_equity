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627"/>
            <a:ext cx="591820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技术周报：惠聚项目 — 科技平台基线</a:t>
            </a:r>
            <a:r>
              <a:rPr lang="zh-CN" altLang="en-US" sz="11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对齐完成</a:t>
            </a:r>
            <a:r>
              <a:rPr lang="en-US" sz="11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，研发主线低返工推进</a:t>
            </a:r>
            <a:r>
              <a:rPr lang="zh-CN" altLang="en-US" sz="11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，外部依赖推进</a:t>
            </a:r>
            <a:r>
              <a:rPr lang="zh-CN" altLang="en-US" sz="11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中</a:t>
            </a:r>
            <a:endParaRPr lang="zh-CN" altLang="en-US" sz="1195" b="1" dirty="0">
              <a:solidFill>
                <a:srgbClr val="1A4FA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422231" y="150912"/>
            <a:ext cx="2436019" cy="269677"/>
          </a:xfrm>
          <a:prstGeom prst="rect">
            <a:avLst/>
          </a:prstGeom>
          <a:solidFill>
            <a:srgbClr val="FFFBEB"/>
          </a:solidFill>
          <a:ln w="18288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40976" y="222667"/>
            <a:ext cx="2081530" cy="1276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B4530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项目状态：</a:t>
            </a:r>
            <a:r>
              <a:rPr lang="zh-CN" altLang="en-US" sz="735" b="1" dirty="0">
                <a:solidFill>
                  <a:srgbClr val="B4530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符合预期</a:t>
            </a:r>
            <a:r>
              <a:rPr lang="en-US" sz="735" b="1" dirty="0">
                <a:solidFill>
                  <a:srgbClr val="B4530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，科技平台已推进到</a:t>
            </a:r>
            <a:r>
              <a:rPr lang="zh-CN" altLang="en-US" sz="735" b="1" dirty="0">
                <a:solidFill>
                  <a:srgbClr val="B4530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排期</a:t>
            </a:r>
            <a:r>
              <a:rPr lang="zh-CN" altLang="en-US" sz="735" b="1" dirty="0">
                <a:solidFill>
                  <a:srgbClr val="B45309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阶段</a:t>
            </a:r>
            <a:endParaRPr lang="zh-CN" altLang="en-US" sz="735" b="1" dirty="0">
              <a:solidFill>
                <a:srgbClr val="B45309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85750" y="535781"/>
            <a:ext cx="2786063" cy="269677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85750" y="535781"/>
            <a:ext cx="2786063" cy="269677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一、产品</a:t>
            </a:r>
            <a:endParaRPr lang="en-US" sz="735" dirty="0"/>
          </a:p>
        </p:txBody>
      </p:sp>
      <p:sp>
        <p:nvSpPr>
          <p:cNvPr id="8" name="Shape 5"/>
          <p:cNvSpPr/>
          <p:nvPr/>
        </p:nvSpPr>
        <p:spPr>
          <a:xfrm>
            <a:off x="289322" y="809030"/>
            <a:ext cx="694730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89322" y="809030"/>
            <a:ext cx="694730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事项</a:t>
            </a:r>
            <a:endParaRPr lang="en-US" sz="635" dirty="0"/>
          </a:p>
        </p:txBody>
      </p:sp>
      <p:sp>
        <p:nvSpPr>
          <p:cNvPr id="10" name="Shape 7"/>
          <p:cNvSpPr/>
          <p:nvPr/>
        </p:nvSpPr>
        <p:spPr>
          <a:xfrm>
            <a:off x="984052" y="809030"/>
            <a:ext cx="555761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84052" y="809030"/>
            <a:ext cx="555761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12" name="Shape 9"/>
          <p:cNvSpPr/>
          <p:nvPr/>
        </p:nvSpPr>
        <p:spPr>
          <a:xfrm>
            <a:off x="1539813" y="809030"/>
            <a:ext cx="1528428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39813" y="809030"/>
            <a:ext cx="1528428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关键节点 / 进展</a:t>
            </a:r>
            <a:endParaRPr lang="en-US" sz="635" dirty="0"/>
          </a:p>
        </p:txBody>
      </p:sp>
      <p:sp>
        <p:nvSpPr>
          <p:cNvPr id="14" name="Shape 11"/>
          <p:cNvSpPr/>
          <p:nvPr/>
        </p:nvSpPr>
        <p:spPr>
          <a:xfrm>
            <a:off x="289322" y="1057275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89322" y="1057275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接口基线收口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984052" y="1057275"/>
            <a:ext cx="55576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84052" y="1057275"/>
            <a:ext cx="55576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2E7D3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</a:t>
            </a:r>
            <a:endParaRPr lang="en-US" sz="635" dirty="0"/>
          </a:p>
        </p:txBody>
      </p:sp>
      <p:sp>
        <p:nvSpPr>
          <p:cNvPr id="18" name="Shape 15"/>
          <p:cNvSpPr/>
          <p:nvPr/>
        </p:nvSpPr>
        <p:spPr>
          <a:xfrm>
            <a:off x="1539813" y="1057275"/>
            <a:ext cx="1528428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539813" y="1052110"/>
            <a:ext cx="1528428" cy="39179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已统一以小花接口文档作为唯一基线，校正接口与用途描述。</a:t>
            </a:r>
            <a:endParaRPr lang="en-US" sz="675" dirty="0"/>
          </a:p>
        </p:txBody>
      </p:sp>
      <p:sp>
        <p:nvSpPr>
          <p:cNvPr id="20" name="Shape 17"/>
          <p:cNvSpPr/>
          <p:nvPr/>
        </p:nvSpPr>
        <p:spPr>
          <a:xfrm>
            <a:off x="289322" y="1431596"/>
            <a:ext cx="694730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89322" y="1431596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项目范围定版</a:t>
            </a:r>
            <a:endParaRPr lang="en-US" sz="675" dirty="0"/>
          </a:p>
        </p:txBody>
      </p:sp>
      <p:sp>
        <p:nvSpPr>
          <p:cNvPr id="22" name="Shape 19"/>
          <p:cNvSpPr/>
          <p:nvPr/>
        </p:nvSpPr>
        <p:spPr>
          <a:xfrm>
            <a:off x="984052" y="1431596"/>
            <a:ext cx="555761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84052" y="1431596"/>
            <a:ext cx="55576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2E7D3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</a:t>
            </a:r>
            <a:endParaRPr lang="en-US" sz="635" dirty="0"/>
          </a:p>
        </p:txBody>
      </p:sp>
      <p:sp>
        <p:nvSpPr>
          <p:cNvPr id="24" name="Shape 21"/>
          <p:cNvSpPr/>
          <p:nvPr/>
        </p:nvSpPr>
        <p:spPr>
          <a:xfrm>
            <a:off x="1539813" y="1431596"/>
            <a:ext cx="1528428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539813" y="1490566"/>
            <a:ext cx="1528428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已将</a:t>
            </a:r>
            <a:r>
              <a:rPr lang="zh-CN" alt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页面交互与</a:t>
            </a: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接口</a:t>
            </a:r>
            <a:r>
              <a:rPr lang="zh-CN" alt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完成第一轮对齐</a:t>
            </a: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。</a:t>
            </a:r>
            <a:endParaRPr lang="en-US" sz="675" dirty="0"/>
          </a:p>
        </p:txBody>
      </p:sp>
      <p:sp>
        <p:nvSpPr>
          <p:cNvPr id="26" name="Shape 23"/>
          <p:cNvSpPr/>
          <p:nvPr/>
        </p:nvSpPr>
        <p:spPr>
          <a:xfrm>
            <a:off x="289322" y="1805918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89322" y="1805918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对外问题口径</a:t>
            </a:r>
            <a:endParaRPr lang="en-US" sz="675" dirty="0"/>
          </a:p>
        </p:txBody>
      </p:sp>
      <p:sp>
        <p:nvSpPr>
          <p:cNvPr id="28" name="Shape 25"/>
          <p:cNvSpPr/>
          <p:nvPr/>
        </p:nvSpPr>
        <p:spPr>
          <a:xfrm>
            <a:off x="981373" y="1805918"/>
            <a:ext cx="556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81373" y="1805918"/>
            <a:ext cx="556487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推进中</a:t>
            </a:r>
            <a:endParaRPr lang="en-US" sz="635" dirty="0"/>
          </a:p>
        </p:txBody>
      </p:sp>
      <p:sp>
        <p:nvSpPr>
          <p:cNvPr id="30" name="Shape 27"/>
          <p:cNvSpPr/>
          <p:nvPr/>
        </p:nvSpPr>
        <p:spPr>
          <a:xfrm>
            <a:off x="1537860" y="1805918"/>
            <a:ext cx="153038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537860" y="1864888"/>
            <a:ext cx="1530381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已形成待科技平台确认问题清单。</a:t>
            </a:r>
            <a:endParaRPr lang="en-US" sz="675" dirty="0"/>
          </a:p>
        </p:txBody>
      </p:sp>
      <p:sp>
        <p:nvSpPr>
          <p:cNvPr id="32" name="Shape 29"/>
          <p:cNvSpPr/>
          <p:nvPr/>
        </p:nvSpPr>
        <p:spPr>
          <a:xfrm>
            <a:off x="3178969" y="535781"/>
            <a:ext cx="2786063" cy="269677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178969" y="535781"/>
            <a:ext cx="2786063" cy="269677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二、研发</a:t>
            </a:r>
            <a:endParaRPr lang="en-US" sz="735" dirty="0"/>
          </a:p>
        </p:txBody>
      </p:sp>
      <p:sp>
        <p:nvSpPr>
          <p:cNvPr id="34" name="Shape 31"/>
          <p:cNvSpPr/>
          <p:nvPr/>
        </p:nvSpPr>
        <p:spPr>
          <a:xfrm>
            <a:off x="3182541" y="809030"/>
            <a:ext cx="694730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182541" y="809030"/>
            <a:ext cx="694730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里程碑</a:t>
            </a:r>
            <a:endParaRPr lang="en-US" sz="635" dirty="0"/>
          </a:p>
        </p:txBody>
      </p:sp>
      <p:sp>
        <p:nvSpPr>
          <p:cNvPr id="36" name="Shape 33"/>
          <p:cNvSpPr/>
          <p:nvPr/>
        </p:nvSpPr>
        <p:spPr>
          <a:xfrm>
            <a:off x="3877270" y="809030"/>
            <a:ext cx="555761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877270" y="809030"/>
            <a:ext cx="555761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38" name="Shape 35"/>
          <p:cNvSpPr/>
          <p:nvPr/>
        </p:nvSpPr>
        <p:spPr>
          <a:xfrm>
            <a:off x="4433032" y="809030"/>
            <a:ext cx="1528428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433032" y="809030"/>
            <a:ext cx="1528428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关键节点 / 进展</a:t>
            </a:r>
            <a:endParaRPr lang="en-US" sz="635" dirty="0"/>
          </a:p>
        </p:txBody>
      </p:sp>
      <p:sp>
        <p:nvSpPr>
          <p:cNvPr id="40" name="Shape 37"/>
          <p:cNvSpPr/>
          <p:nvPr/>
        </p:nvSpPr>
        <p:spPr>
          <a:xfrm>
            <a:off x="3182541" y="1057275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3182541" y="1057275"/>
            <a:ext cx="694730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需求修订纠偏</a:t>
            </a:r>
            <a:endParaRPr lang="en-US" sz="675" dirty="0"/>
          </a:p>
        </p:txBody>
      </p:sp>
      <p:sp>
        <p:nvSpPr>
          <p:cNvPr id="42" name="Shape 39"/>
          <p:cNvSpPr/>
          <p:nvPr/>
        </p:nvSpPr>
        <p:spPr>
          <a:xfrm>
            <a:off x="3877270" y="1057275"/>
            <a:ext cx="55576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3877270" y="1057275"/>
            <a:ext cx="55576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2E7D3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</a:t>
            </a:r>
            <a:endParaRPr lang="en-US" sz="635" dirty="0"/>
          </a:p>
        </p:txBody>
      </p:sp>
      <p:sp>
        <p:nvSpPr>
          <p:cNvPr id="44" name="Shape 41"/>
          <p:cNvSpPr/>
          <p:nvPr/>
        </p:nvSpPr>
        <p:spPr>
          <a:xfrm>
            <a:off x="4433032" y="1057275"/>
            <a:ext cx="1528428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4433032" y="1116245"/>
            <a:ext cx="1528428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已完成</a:t>
            </a:r>
            <a:r>
              <a:rPr lang="zh-CN" alt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部分</a:t>
            </a: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重写与纠偏</a:t>
            </a:r>
            <a:r>
              <a:rPr lang="zh-CN" alt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。</a:t>
            </a:r>
            <a:endParaRPr lang="zh-CN" altLang="en-US" sz="675" dirty="0">
              <a:solidFill>
                <a:srgbClr val="1A1A1A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182541" y="1431596"/>
            <a:ext cx="694730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3182541" y="1490566"/>
            <a:ext cx="694730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文档与留痕</a:t>
            </a:r>
            <a:endParaRPr lang="en-US" sz="675" dirty="0"/>
          </a:p>
        </p:txBody>
      </p:sp>
      <p:sp>
        <p:nvSpPr>
          <p:cNvPr id="48" name="Shape 45"/>
          <p:cNvSpPr/>
          <p:nvPr/>
        </p:nvSpPr>
        <p:spPr>
          <a:xfrm>
            <a:off x="3877270" y="1431596"/>
            <a:ext cx="555761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3877270" y="1431596"/>
            <a:ext cx="55576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2E7D3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</a:t>
            </a:r>
            <a:endParaRPr lang="en-US" sz="635" dirty="0"/>
          </a:p>
        </p:txBody>
      </p:sp>
      <p:sp>
        <p:nvSpPr>
          <p:cNvPr id="50" name="Shape 47"/>
          <p:cNvSpPr/>
          <p:nvPr/>
        </p:nvSpPr>
        <p:spPr>
          <a:xfrm>
            <a:off x="4433032" y="1431596"/>
            <a:ext cx="1528428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4433032" y="1426431"/>
            <a:ext cx="1528428" cy="39179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沉淀计划与checklist，保证判断链条连续。</a:t>
            </a:r>
            <a:endParaRPr lang="en-US" sz="675" dirty="0"/>
          </a:p>
        </p:txBody>
      </p:sp>
      <p:sp>
        <p:nvSpPr>
          <p:cNvPr id="52" name="Shape 49"/>
          <p:cNvSpPr/>
          <p:nvPr/>
        </p:nvSpPr>
        <p:spPr>
          <a:xfrm>
            <a:off x="3182541" y="1805918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3182541" y="1864888"/>
            <a:ext cx="694730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外部条件</a:t>
            </a:r>
            <a:endParaRPr lang="en-US" sz="675" dirty="0"/>
          </a:p>
        </p:txBody>
      </p:sp>
      <p:sp>
        <p:nvSpPr>
          <p:cNvPr id="54" name="Shape 51"/>
          <p:cNvSpPr/>
          <p:nvPr/>
        </p:nvSpPr>
        <p:spPr>
          <a:xfrm>
            <a:off x="3874591" y="1805918"/>
            <a:ext cx="556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3874591" y="1864888"/>
            <a:ext cx="556487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zh-CN" altLang="en-US" sz="63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</a:t>
            </a:r>
            <a:r>
              <a:rPr lang="zh-CN" altLang="en-US" sz="63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中</a:t>
            </a:r>
            <a:endParaRPr lang="zh-CN" altLang="en-US" sz="635" b="1" dirty="0">
              <a:solidFill>
                <a:srgbClr val="D32F2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431078" y="1805918"/>
            <a:ext cx="153038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4431078" y="1805918"/>
            <a:ext cx="1530381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公网测试域名、路径暴露方式、白名单策略及正式支付渠道仍待外部确认。</a:t>
            </a:r>
            <a:endParaRPr lang="en-US" sz="675" dirty="0"/>
          </a:p>
        </p:txBody>
      </p:sp>
      <p:sp>
        <p:nvSpPr>
          <p:cNvPr id="58" name="Shape 55"/>
          <p:cNvSpPr/>
          <p:nvPr/>
        </p:nvSpPr>
        <p:spPr>
          <a:xfrm>
            <a:off x="6072188" y="535781"/>
            <a:ext cx="2786063" cy="269677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6072188" y="535781"/>
            <a:ext cx="2786063" cy="269677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kern="0" spc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三、商务（供应商 · 法务 · 其它）</a:t>
            </a:r>
            <a:endParaRPr lang="en-US" sz="735" dirty="0"/>
          </a:p>
        </p:txBody>
      </p:sp>
      <p:sp>
        <p:nvSpPr>
          <p:cNvPr id="60" name="Shape 57"/>
          <p:cNvSpPr/>
          <p:nvPr/>
        </p:nvSpPr>
        <p:spPr>
          <a:xfrm>
            <a:off x="6075759" y="809030"/>
            <a:ext cx="778083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6075759" y="809030"/>
            <a:ext cx="778083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事项</a:t>
            </a:r>
            <a:endParaRPr lang="en-US" sz="635" dirty="0"/>
          </a:p>
        </p:txBody>
      </p:sp>
      <p:sp>
        <p:nvSpPr>
          <p:cNvPr id="62" name="Shape 59"/>
          <p:cNvSpPr/>
          <p:nvPr/>
        </p:nvSpPr>
        <p:spPr>
          <a:xfrm>
            <a:off x="6853842" y="809030"/>
            <a:ext cx="611349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6853842" y="809030"/>
            <a:ext cx="611349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64" name="Shape 61"/>
          <p:cNvSpPr/>
          <p:nvPr/>
        </p:nvSpPr>
        <p:spPr>
          <a:xfrm>
            <a:off x="7465191" y="809030"/>
            <a:ext cx="1389487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7465191" y="809030"/>
            <a:ext cx="1389487" cy="255389"/>
          </a:xfrm>
          <a:prstGeom prst="rect">
            <a:avLst/>
          </a:prstGeom>
          <a:noFill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关键节点 / 进展</a:t>
            </a:r>
            <a:endParaRPr lang="en-US" sz="635" dirty="0"/>
          </a:p>
        </p:txBody>
      </p:sp>
      <p:sp>
        <p:nvSpPr>
          <p:cNvPr id="66" name="Shape 63"/>
          <p:cNvSpPr/>
          <p:nvPr/>
        </p:nvSpPr>
        <p:spPr>
          <a:xfrm>
            <a:off x="6075759" y="1057275"/>
            <a:ext cx="778083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6075759" y="1057275"/>
            <a:ext cx="778083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支付渠道协调</a:t>
            </a:r>
            <a:endParaRPr lang="en-US" sz="675" dirty="0"/>
          </a:p>
        </p:txBody>
      </p:sp>
      <p:sp>
        <p:nvSpPr>
          <p:cNvPr id="68" name="Shape 65"/>
          <p:cNvSpPr/>
          <p:nvPr/>
        </p:nvSpPr>
        <p:spPr>
          <a:xfrm>
            <a:off x="6853842" y="1057275"/>
            <a:ext cx="611349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6853842" y="1057275"/>
            <a:ext cx="611349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推进中</a:t>
            </a:r>
            <a:endParaRPr lang="en-US" sz="635" dirty="0"/>
          </a:p>
        </p:txBody>
      </p:sp>
      <p:sp>
        <p:nvSpPr>
          <p:cNvPr id="70" name="Shape 67"/>
          <p:cNvSpPr/>
          <p:nvPr/>
        </p:nvSpPr>
        <p:spPr>
          <a:xfrm>
            <a:off x="7465191" y="1057275"/>
            <a:ext cx="1389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465191" y="987975"/>
            <a:ext cx="1389487" cy="5200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支付渠道与准入路径仍待最终拍板，需继续并行跟进渠道确认与对接准备。</a:t>
            </a:r>
            <a:endParaRPr lang="en-US" sz="675" dirty="0"/>
          </a:p>
        </p:txBody>
      </p:sp>
      <p:sp>
        <p:nvSpPr>
          <p:cNvPr id="72" name="Shape 69"/>
          <p:cNvSpPr/>
          <p:nvPr/>
        </p:nvSpPr>
        <p:spPr>
          <a:xfrm>
            <a:off x="6075759" y="1431596"/>
            <a:ext cx="778083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6075759" y="1431596"/>
            <a:ext cx="778083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供应商/法务</a:t>
            </a:r>
            <a:endParaRPr lang="en-US" sz="675" dirty="0"/>
          </a:p>
        </p:txBody>
      </p:sp>
      <p:sp>
        <p:nvSpPr>
          <p:cNvPr id="74" name="Shape 71"/>
          <p:cNvSpPr/>
          <p:nvPr/>
        </p:nvSpPr>
        <p:spPr>
          <a:xfrm>
            <a:off x="6853842" y="1431596"/>
            <a:ext cx="611349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6853842" y="1431596"/>
            <a:ext cx="611349" cy="38146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E651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推进中</a:t>
            </a:r>
            <a:endParaRPr lang="en-US" sz="635" dirty="0"/>
          </a:p>
        </p:txBody>
      </p:sp>
      <p:sp>
        <p:nvSpPr>
          <p:cNvPr id="76" name="Shape 73"/>
          <p:cNvSpPr/>
          <p:nvPr/>
        </p:nvSpPr>
        <p:spPr>
          <a:xfrm>
            <a:off x="7465191" y="1431596"/>
            <a:ext cx="1389487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7465191" y="1426431"/>
            <a:ext cx="1389487" cy="39179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法大大、齐为及相关合作事项延续推进中</a:t>
            </a:r>
            <a:endParaRPr lang="en-US" sz="675" dirty="0"/>
          </a:p>
        </p:txBody>
      </p:sp>
      <p:sp>
        <p:nvSpPr>
          <p:cNvPr id="78" name="Shape 75"/>
          <p:cNvSpPr/>
          <p:nvPr/>
        </p:nvSpPr>
        <p:spPr>
          <a:xfrm>
            <a:off x="6075759" y="1805918"/>
            <a:ext cx="778083" cy="511476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6075759" y="1805918"/>
            <a:ext cx="778083" cy="511476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外部联调条件</a:t>
            </a:r>
            <a:endParaRPr lang="en-US" sz="675" dirty="0"/>
          </a:p>
        </p:txBody>
      </p:sp>
      <p:sp>
        <p:nvSpPr>
          <p:cNvPr id="80" name="Shape 77"/>
          <p:cNvSpPr/>
          <p:nvPr/>
        </p:nvSpPr>
        <p:spPr>
          <a:xfrm>
            <a:off x="6851275" y="1805918"/>
            <a:ext cx="612130" cy="511476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6851275" y="1929894"/>
            <a:ext cx="612130" cy="2635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zh-CN" altLang="en-US" sz="63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</a:t>
            </a:r>
            <a:r>
              <a:rPr lang="zh-CN" altLang="en-US" sz="63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中</a:t>
            </a:r>
            <a:endParaRPr lang="zh-CN" altLang="en-US" sz="635" b="1" dirty="0">
              <a:solidFill>
                <a:srgbClr val="D32F2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7463405" y="1805918"/>
            <a:ext cx="1391273" cy="511476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7463405" y="1865759"/>
            <a:ext cx="1391273" cy="39179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科技平台未补齐</a:t>
            </a:r>
            <a:r>
              <a:rPr lang="zh-CN" alt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联调、</a:t>
            </a: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登录态能力建议尽快集中确认。</a:t>
            </a:r>
            <a:endParaRPr lang="en-US" sz="675" dirty="0"/>
          </a:p>
        </p:txBody>
      </p:sp>
      <p:sp>
        <p:nvSpPr>
          <p:cNvPr id="84" name="Shape 81"/>
          <p:cNvSpPr/>
          <p:nvPr/>
        </p:nvSpPr>
        <p:spPr>
          <a:xfrm>
            <a:off x="285750" y="3467956"/>
            <a:ext cx="8572500" cy="448605"/>
          </a:xfrm>
          <a:prstGeom prst="rect">
            <a:avLst/>
          </a:prstGeom>
          <a:solidFill>
            <a:srgbClr val="FFF5F5"/>
          </a:solidFill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285750" y="3467956"/>
            <a:ext cx="35719" cy="448605"/>
          </a:xfrm>
          <a:prstGeom prst="rect">
            <a:avLst/>
          </a:prstGeom>
          <a:solidFill>
            <a:srgbClr val="D32F2F"/>
          </a:solidFill>
        </p:spPr>
        <p:txBody>
          <a:bodyPr/>
          <a:p/>
        </p:txBody>
      </p:sp>
      <p:pic>
        <p:nvPicPr>
          <p:cNvPr id="8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582256"/>
            <a:ext cx="100013" cy="100013"/>
          </a:xfrm>
          <a:prstGeom prst="rect">
            <a:avLst/>
          </a:prstGeom>
        </p:spPr>
      </p:pic>
      <p:sp>
        <p:nvSpPr>
          <p:cNvPr id="87" name="Text 83"/>
          <p:cNvSpPr/>
          <p:nvPr/>
        </p:nvSpPr>
        <p:spPr>
          <a:xfrm>
            <a:off x="535781" y="3578684"/>
            <a:ext cx="527856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风险 &amp; 诉求</a:t>
            </a:r>
            <a:endParaRPr lang="en-US" sz="685" dirty="0"/>
          </a:p>
        </p:txBody>
      </p:sp>
      <p:sp>
        <p:nvSpPr>
          <p:cNvPr id="88" name="Text 84"/>
          <p:cNvSpPr/>
          <p:nvPr/>
        </p:nvSpPr>
        <p:spPr>
          <a:xfrm>
            <a:off x="1206512" y="3539393"/>
            <a:ext cx="2331720" cy="1276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【科技平台】仍未补齐</a:t>
            </a:r>
            <a:r>
              <a:rPr lang="zh-CN" altLang="en-US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联合</a:t>
            </a:r>
            <a:r>
              <a:rPr lang="en-US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登录态能力，建议尽快安排确认。</a:t>
            </a:r>
            <a:endParaRPr lang="en-US" sz="675" dirty="0"/>
          </a:p>
        </p:txBody>
      </p:sp>
      <p:sp>
        <p:nvSpPr>
          <p:cNvPr id="89" name="Text 85"/>
          <p:cNvSpPr/>
          <p:nvPr/>
        </p:nvSpPr>
        <p:spPr>
          <a:xfrm>
            <a:off x="1206512" y="3713690"/>
            <a:ext cx="5243513" cy="1314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【支付渠道】正式支付渠道若继续待定，将影响支付协议号正式来源确认和后续生产化切换节奏，建议商务侧尽快推动结论落地。</a:t>
            </a:r>
            <a:endParaRPr lang="en-US" sz="675" dirty="0"/>
          </a:p>
        </p:txBody>
      </p:sp>
      <p:sp>
        <p:nvSpPr>
          <p:cNvPr id="90" name="Shape 86"/>
          <p:cNvSpPr/>
          <p:nvPr/>
        </p:nvSpPr>
        <p:spPr>
          <a:xfrm>
            <a:off x="285750" y="4023717"/>
            <a:ext cx="8572500" cy="76259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9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147840"/>
            <a:ext cx="94655" cy="107156"/>
          </a:xfrm>
          <a:prstGeom prst="rect">
            <a:avLst/>
          </a:prstGeom>
        </p:spPr>
      </p:pic>
      <p:sp>
        <p:nvSpPr>
          <p:cNvPr id="92" name="Text 87"/>
          <p:cNvSpPr/>
          <p:nvPr/>
        </p:nvSpPr>
        <p:spPr>
          <a:xfrm>
            <a:off x="580430" y="4123730"/>
            <a:ext cx="85725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下周核心计划提炼</a:t>
            </a:r>
            <a:endParaRPr lang="en-US" sz="735" dirty="0"/>
          </a:p>
        </p:txBody>
      </p:sp>
      <p:pic>
        <p:nvPicPr>
          <p:cNvPr id="9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364831"/>
            <a:ext cx="85725" cy="85725"/>
          </a:xfrm>
          <a:prstGeom prst="rect">
            <a:avLst/>
          </a:prstGeom>
        </p:spPr>
      </p:pic>
      <p:sp>
        <p:nvSpPr>
          <p:cNvPr id="94" name="Text 88"/>
          <p:cNvSpPr/>
          <p:nvPr/>
        </p:nvSpPr>
        <p:spPr>
          <a:xfrm>
            <a:off x="571500" y="4336256"/>
            <a:ext cx="366831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zh-CN" sz="635" b="1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产品与对外对齐：</a:t>
            </a:r>
            <a:r>
              <a:rPr lang="zh-CN" sz="635" b="1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完成科技平台改造需求文档定版，</a:t>
            </a:r>
            <a:r>
              <a:rPr lang="zh-CN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并输出可直接发送的短版问题清单。</a:t>
            </a:r>
            <a:endParaRPr lang="en-US" sz="635" dirty="0"/>
          </a:p>
        </p:txBody>
      </p:sp>
      <p:pic>
        <p:nvPicPr>
          <p:cNvPr id="9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546997"/>
            <a:ext cx="85725" cy="85725"/>
          </a:xfrm>
          <a:prstGeom prst="rect">
            <a:avLst/>
          </a:prstGeom>
        </p:spPr>
      </p:pic>
      <p:sp>
        <p:nvSpPr>
          <p:cNvPr id="96" name="Text 89"/>
          <p:cNvSpPr/>
          <p:nvPr/>
        </p:nvSpPr>
        <p:spPr>
          <a:xfrm>
            <a:off x="571500" y="4518422"/>
            <a:ext cx="2135981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zh-CN" sz="635" b="1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商务推进：</a:t>
            </a:r>
            <a:r>
              <a:rPr lang="zh-CN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继续推进支付渠道、供应商和法务事项确认，尽快换取正式接入路径与联调条件。</a:t>
            </a:r>
            <a:endParaRPr lang="en-US" sz="635" dirty="0"/>
          </a:p>
        </p:txBody>
      </p:sp>
      <p:pic>
        <p:nvPicPr>
          <p:cNvPr id="9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4364831"/>
            <a:ext cx="85725" cy="85725"/>
          </a:xfrm>
          <a:prstGeom prst="rect">
            <a:avLst/>
          </a:prstGeom>
        </p:spPr>
      </p:pic>
      <p:sp>
        <p:nvSpPr>
          <p:cNvPr id="98" name="Text 90"/>
          <p:cNvSpPr/>
          <p:nvPr/>
        </p:nvSpPr>
        <p:spPr>
          <a:xfrm>
            <a:off x="4822031" y="4336256"/>
            <a:ext cx="3383280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zh-CN" sz="635" b="1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研发与交付：</a:t>
            </a:r>
            <a:r>
              <a:rPr lang="zh-CN" sz="635" b="1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维持低返工推进节奏；</a:t>
            </a:r>
            <a:r>
              <a:rPr lang="zh-CN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若环境信息到位，再评估恢复与科技平台联排期</a:t>
            </a:r>
            <a:r>
              <a:rPr lang="zh-CN" sz="675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计划。</a:t>
            </a:r>
            <a:endParaRPr lang="en-US" sz="635" dirty="0"/>
          </a:p>
        </p:txBody>
      </p:sp>
      <p:sp>
        <p:nvSpPr>
          <p:cNvPr id="99" name="Shape 9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pic>
        <p:nvPicPr>
          <p:cNvPr id="10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974729"/>
            <a:ext cx="92869" cy="92869"/>
          </a:xfrm>
          <a:prstGeom prst="rect">
            <a:avLst/>
          </a:prstGeom>
        </p:spPr>
      </p:pic>
      <p:sp>
        <p:nvSpPr>
          <p:cNvPr id="101" name="Text 92"/>
          <p:cNvSpPr/>
          <p:nvPr/>
        </p:nvSpPr>
        <p:spPr>
          <a:xfrm>
            <a:off x="435769" y="4972943"/>
            <a:ext cx="1238380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小花科技 XIAOHUA FINTECH</a:t>
            </a:r>
            <a:endParaRPr lang="en-US" sz="675" dirty="0"/>
          </a:p>
        </p:txBody>
      </p:sp>
      <p:sp>
        <p:nvSpPr>
          <p:cNvPr id="102" name="Text 93"/>
          <p:cNvSpPr/>
          <p:nvPr/>
        </p:nvSpPr>
        <p:spPr>
          <a:xfrm>
            <a:off x="8569235" y="4947940"/>
            <a:ext cx="289015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 1 页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627"/>
            <a:ext cx="37719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本周技术进展总结：文档基线收口与低返工推进</a:t>
            </a:r>
            <a:endParaRPr lang="en-US" sz="1195" dirty="0"/>
          </a:p>
        </p:txBody>
      </p:sp>
      <p:sp>
        <p:nvSpPr>
          <p:cNvPr id="4" name="Shape 1"/>
          <p:cNvSpPr/>
          <p:nvPr/>
        </p:nvSpPr>
        <p:spPr>
          <a:xfrm>
            <a:off x="292894" y="578644"/>
            <a:ext cx="3817358" cy="307181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4" y="675084"/>
            <a:ext cx="14287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7219" y="650081"/>
            <a:ext cx="12573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一、科技平台文档纠偏与执行边界控制</a:t>
            </a:r>
            <a:endParaRPr lang="en-US" sz="785" dirty="0"/>
          </a:p>
        </p:txBody>
      </p:sp>
      <p:sp>
        <p:nvSpPr>
          <p:cNvPr id="7" name="Shape 3"/>
          <p:cNvSpPr/>
          <p:nvPr/>
        </p:nvSpPr>
        <p:spPr>
          <a:xfrm>
            <a:off x="292894" y="885825"/>
            <a:ext cx="3817358" cy="1457325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4" y="1028700"/>
            <a:ext cx="85725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4356" y="1021556"/>
            <a:ext cx="3429000" cy="1125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科技平台接口基线收口：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已统一以科技平台-小花接口文档V1.1.2作为唯一基线，校正接口路径、调用方向与用途描述，减少旧版本理解干扰。</a:t>
            </a:r>
            <a:endParaRPr lang="en-US" sz="685" dirty="0"/>
          </a:p>
        </p:txBody>
      </p:sp>
      <p:sp>
        <p:nvSpPr>
          <p:cNvPr id="10" name="Text 5"/>
          <p:cNvSpPr/>
          <p:nvPr/>
        </p:nvSpPr>
        <p:spPr>
          <a:xfrm>
            <a:off x="1464469" y="1007269"/>
            <a:ext cx="84011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sp>
        <p:nvSpPr>
          <p:cNvPr id="11" name="Text 6"/>
          <p:cNvSpPr/>
          <p:nvPr/>
        </p:nvSpPr>
        <p:spPr>
          <a:xfrm>
            <a:off x="2304585" y="1021556"/>
            <a:ext cx="10001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sp>
        <p:nvSpPr>
          <p:cNvPr id="12" name="Text 7"/>
          <p:cNvSpPr/>
          <p:nvPr/>
        </p:nvSpPr>
        <p:spPr>
          <a:xfrm>
            <a:off x="2404597" y="1007269"/>
            <a:ext cx="78012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sp>
        <p:nvSpPr>
          <p:cNvPr id="13" name="Text 8"/>
          <p:cNvSpPr/>
          <p:nvPr/>
        </p:nvSpPr>
        <p:spPr>
          <a:xfrm>
            <a:off x="3184717" y="1021556"/>
            <a:ext cx="10001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sp>
        <p:nvSpPr>
          <p:cNvPr id="14" name="Text 9"/>
          <p:cNvSpPr/>
          <p:nvPr/>
        </p:nvSpPr>
        <p:spPr>
          <a:xfrm>
            <a:off x="564356" y="1160859"/>
            <a:ext cx="108015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sp>
        <p:nvSpPr>
          <p:cNvPr id="15" name="Text 10"/>
          <p:cNvSpPr/>
          <p:nvPr/>
        </p:nvSpPr>
        <p:spPr>
          <a:xfrm>
            <a:off x="1644514" y="1175147"/>
            <a:ext cx="2128056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sp>
        <p:nvSpPr>
          <p:cNvPr id="16" name="Text 11"/>
          <p:cNvSpPr/>
          <p:nvPr/>
        </p:nvSpPr>
        <p:spPr>
          <a:xfrm>
            <a:off x="564356" y="1325166"/>
            <a:ext cx="1387255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5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4" y="1571625"/>
            <a:ext cx="85725" cy="857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4356" y="1543050"/>
            <a:ext cx="343159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执行边界与返工控制：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本周未恢复科技平台代码主线，继续以“文档定版+问题清单收口”为主线推进，避免在环境、登录态和加密口径未齐备前扩大实现面。</a:t>
            </a:r>
            <a:endParaRPr lang="en-US" sz="685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6480000">
            <a:off x="407190" y="1957384"/>
            <a:ext cx="85732" cy="8573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4356" y="1928813"/>
            <a:ext cx="343159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文档化交付与连续留痕：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已补齐近期缺失日报，同步沉淀次日计划与checklist，保证项目判断链条连续，便于内部复盘和外部沟通。</a:t>
            </a:r>
            <a:endParaRPr lang="en-US" sz="685" dirty="0"/>
          </a:p>
        </p:txBody>
      </p:sp>
      <p:sp>
        <p:nvSpPr>
          <p:cNvPr id="21" name="Shape 14"/>
          <p:cNvSpPr/>
          <p:nvPr/>
        </p:nvSpPr>
        <p:spPr>
          <a:xfrm>
            <a:off x="292894" y="2500313"/>
            <a:ext cx="3817358" cy="307181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94" y="2596753"/>
            <a:ext cx="142875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07219" y="2571750"/>
            <a:ext cx="1796932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二、AiCoding 本周思考与价值提炼</a:t>
            </a:r>
            <a:endParaRPr lang="en-US" sz="785" dirty="0"/>
          </a:p>
        </p:txBody>
      </p:sp>
      <p:sp>
        <p:nvSpPr>
          <p:cNvPr id="24" name="Shape 16"/>
          <p:cNvSpPr/>
          <p:nvPr/>
        </p:nvSpPr>
        <p:spPr>
          <a:xfrm>
            <a:off x="292894" y="2807494"/>
            <a:ext cx="3817358" cy="1505545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25" name="Text 17"/>
          <p:cNvSpPr/>
          <p:nvPr/>
        </p:nvSpPr>
        <p:spPr>
          <a:xfrm>
            <a:off x="407194" y="2921794"/>
            <a:ext cx="3588758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核心结论：AI 已从推进加速器进一步升级为边界收口工具</a:t>
            </a:r>
            <a:endParaRPr lang="en-US" sz="635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94" y="3155752"/>
            <a:ext cx="64294" cy="857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2925" y="3127177"/>
            <a:ext cx="345302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节后状态快速恢复：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能快速回看周报、计划和修订文档，帮助团队重新确认哪些结论仍成立，避免节后误恢复高风险主线。</a:t>
            </a:r>
            <a:endParaRPr lang="en-US" sz="685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94" y="3541514"/>
            <a:ext cx="85725" cy="8572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64356" y="3512939"/>
            <a:ext cx="343159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统一认知与协同：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快速生成对外确认清单、沟通口径和周报，降低重复沟通成本，沉淀更系统的文档。</a:t>
            </a:r>
            <a:endParaRPr lang="en-US" sz="685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194" y="3927277"/>
            <a:ext cx="64294" cy="8572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42925" y="3898702"/>
            <a:ext cx="345302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管理层启发：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AI 最佳使用方式为“人拍板，AI 收口”。在外部依赖多、信息变化快的阶段，AI 对管理效率的提升非常明显。</a:t>
            </a:r>
            <a:endParaRPr lang="en-US" sz="685" dirty="0"/>
          </a:p>
        </p:txBody>
      </p:sp>
      <p:sp>
        <p:nvSpPr>
          <p:cNvPr id="32" name="Shape 21"/>
          <p:cNvSpPr/>
          <p:nvPr/>
        </p:nvSpPr>
        <p:spPr>
          <a:xfrm>
            <a:off x="4267414" y="578644"/>
            <a:ext cx="4583692" cy="307181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714" y="675084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553164" y="650081"/>
            <a:ext cx="1371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三、科技平台接口总体情况</a:t>
            </a:r>
            <a:endParaRPr lang="en-US" sz="785" dirty="0"/>
          </a:p>
        </p:txBody>
      </p:sp>
      <p:sp>
        <p:nvSpPr>
          <p:cNvPr id="35" name="Shape 23"/>
          <p:cNvSpPr/>
          <p:nvPr/>
        </p:nvSpPr>
        <p:spPr>
          <a:xfrm>
            <a:off x="4267414" y="885825"/>
            <a:ext cx="4583692" cy="2663782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4267414" y="885825"/>
            <a:ext cx="4583692" cy="312539"/>
          </a:xfrm>
          <a:prstGeom prst="rect">
            <a:avLst/>
          </a:prstGeom>
          <a:solidFill>
            <a:srgbClr val="FFF5F5"/>
          </a:solidFill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4267414" y="1191220"/>
            <a:ext cx="4583692" cy="7144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714" y="998339"/>
            <a:ext cx="92869" cy="92869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500395" y="996553"/>
            <a:ext cx="464344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5" b="1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卡点说明：</a:t>
            </a:r>
            <a:endParaRPr lang="en-US" sz="635" dirty="0"/>
          </a:p>
        </p:txBody>
      </p:sp>
      <p:sp>
        <p:nvSpPr>
          <p:cNvPr id="40" name="Text 27"/>
          <p:cNvSpPr/>
          <p:nvPr/>
        </p:nvSpPr>
        <p:spPr>
          <a:xfrm>
            <a:off x="4964739" y="996553"/>
            <a:ext cx="3678975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D32F2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科技平台仍未补齐真实调用地址、登录态能力和加密加签示例，文档已收口但执行条件未齐备。</a:t>
            </a:r>
            <a:endParaRPr lang="en-US" sz="675" dirty="0"/>
          </a:p>
        </p:txBody>
      </p:sp>
      <p:sp>
        <p:nvSpPr>
          <p:cNvPr id="41" name="Shape 28"/>
          <p:cNvSpPr/>
          <p:nvPr/>
        </p:nvSpPr>
        <p:spPr>
          <a:xfrm>
            <a:off x="4267414" y="1191220"/>
            <a:ext cx="4583692" cy="233695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2" name="Shape 29"/>
          <p:cNvSpPr/>
          <p:nvPr/>
        </p:nvSpPr>
        <p:spPr>
          <a:xfrm>
            <a:off x="4270986" y="1194792"/>
            <a:ext cx="1144116" cy="283964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43" name="Text 30"/>
          <p:cNvSpPr/>
          <p:nvPr/>
        </p:nvSpPr>
        <p:spPr>
          <a:xfrm>
            <a:off x="4270986" y="1194792"/>
            <a:ext cx="1144116" cy="283964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维度</a:t>
            </a:r>
            <a:endParaRPr lang="en-US" sz="635" dirty="0"/>
          </a:p>
        </p:txBody>
      </p:sp>
      <p:sp>
        <p:nvSpPr>
          <p:cNvPr id="44" name="Shape 31"/>
          <p:cNvSpPr/>
          <p:nvPr/>
        </p:nvSpPr>
        <p:spPr>
          <a:xfrm>
            <a:off x="5415102" y="1194792"/>
            <a:ext cx="686470" cy="283964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45" name="Text 32"/>
          <p:cNvSpPr/>
          <p:nvPr/>
        </p:nvSpPr>
        <p:spPr>
          <a:xfrm>
            <a:off x="5415102" y="1194792"/>
            <a:ext cx="686470" cy="283964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状态</a:t>
            </a:r>
            <a:endParaRPr lang="en-US" sz="635" dirty="0"/>
          </a:p>
        </p:txBody>
      </p:sp>
      <p:sp>
        <p:nvSpPr>
          <p:cNvPr id="46" name="Shape 33"/>
          <p:cNvSpPr/>
          <p:nvPr/>
        </p:nvSpPr>
        <p:spPr>
          <a:xfrm>
            <a:off x="6101572" y="1194792"/>
            <a:ext cx="2745963" cy="283964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  <p:txBody>
          <a:bodyPr/>
          <a:p/>
        </p:txBody>
      </p:sp>
      <p:sp>
        <p:nvSpPr>
          <p:cNvPr id="47" name="Text 34"/>
          <p:cNvSpPr/>
          <p:nvPr/>
        </p:nvSpPr>
        <p:spPr>
          <a:xfrm>
            <a:off x="6101572" y="1194792"/>
            <a:ext cx="2745963" cy="283964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说明</a:t>
            </a:r>
            <a:endParaRPr lang="en-US" sz="635" dirty="0"/>
          </a:p>
        </p:txBody>
      </p:sp>
      <p:sp>
        <p:nvSpPr>
          <p:cNvPr id="48" name="Shape 35"/>
          <p:cNvSpPr/>
          <p:nvPr/>
        </p:nvSpPr>
        <p:spPr>
          <a:xfrm>
            <a:off x="4270986" y="1471613"/>
            <a:ext cx="1144116" cy="41004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9" name="Text 36"/>
          <p:cNvSpPr/>
          <p:nvPr/>
        </p:nvSpPr>
        <p:spPr>
          <a:xfrm>
            <a:off x="4270986" y="1471613"/>
            <a:ext cx="1144116" cy="410040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内部业务骨架</a:t>
            </a:r>
            <a:endParaRPr lang="en-US" sz="635" dirty="0"/>
          </a:p>
        </p:txBody>
      </p:sp>
      <p:sp>
        <p:nvSpPr>
          <p:cNvPr id="50" name="Shape 37"/>
          <p:cNvSpPr/>
          <p:nvPr/>
        </p:nvSpPr>
        <p:spPr>
          <a:xfrm>
            <a:off x="5415102" y="1471613"/>
            <a:ext cx="686470" cy="41004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1" name="Shape 38"/>
          <p:cNvSpPr/>
          <p:nvPr/>
        </p:nvSpPr>
        <p:spPr>
          <a:xfrm>
            <a:off x="5627963" y="1586275"/>
            <a:ext cx="257175" cy="177143"/>
          </a:xfrm>
          <a:prstGeom prst="roundRect">
            <a:avLst/>
          </a:prstGeom>
          <a:solidFill>
            <a:srgbClr val="2E7D32"/>
          </a:solidFill>
        </p:spPr>
        <p:txBody>
          <a:bodyPr/>
          <a:p/>
        </p:txBody>
      </p:sp>
      <p:sp>
        <p:nvSpPr>
          <p:cNvPr id="52" name="Text 39"/>
          <p:cNvSpPr/>
          <p:nvPr/>
        </p:nvSpPr>
        <p:spPr>
          <a:xfrm>
            <a:off x="5627963" y="1586275"/>
            <a:ext cx="257175" cy="17714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绿</a:t>
            </a:r>
            <a:endParaRPr lang="en-US" sz="585" dirty="0"/>
          </a:p>
        </p:txBody>
      </p:sp>
      <p:sp>
        <p:nvSpPr>
          <p:cNvPr id="53" name="Shape 40"/>
          <p:cNvSpPr/>
          <p:nvPr/>
        </p:nvSpPr>
        <p:spPr>
          <a:xfrm>
            <a:off x="6101572" y="1471613"/>
            <a:ext cx="2745963" cy="41004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4" name="Text 41"/>
          <p:cNvSpPr/>
          <p:nvPr/>
        </p:nvSpPr>
        <p:spPr>
          <a:xfrm>
            <a:off x="6101572" y="1471613"/>
            <a:ext cx="2745963" cy="410040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订单接收、试算页、申请提交、放款/还款回调处理、状态流转、持久化已具备</a:t>
            </a:r>
            <a:endParaRPr lang="en-US" sz="675" dirty="0"/>
          </a:p>
        </p:txBody>
      </p:sp>
      <p:sp>
        <p:nvSpPr>
          <p:cNvPr id="55" name="Shape 42"/>
          <p:cNvSpPr/>
          <p:nvPr/>
        </p:nvSpPr>
        <p:spPr>
          <a:xfrm>
            <a:off x="4270986" y="1874509"/>
            <a:ext cx="1144116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6" name="Text 43"/>
          <p:cNvSpPr/>
          <p:nvPr/>
        </p:nvSpPr>
        <p:spPr>
          <a:xfrm>
            <a:off x="4270986" y="1874509"/>
            <a:ext cx="1144116" cy="327161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KJ标准协议适配</a:t>
            </a:r>
            <a:endParaRPr lang="en-US" sz="635" dirty="0"/>
          </a:p>
        </p:txBody>
      </p:sp>
      <p:sp>
        <p:nvSpPr>
          <p:cNvPr id="57" name="Shape 44"/>
          <p:cNvSpPr/>
          <p:nvPr/>
        </p:nvSpPr>
        <p:spPr>
          <a:xfrm>
            <a:off x="5415102" y="1874509"/>
            <a:ext cx="686470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8" name="Shape 45"/>
          <p:cNvSpPr/>
          <p:nvPr/>
        </p:nvSpPr>
        <p:spPr>
          <a:xfrm>
            <a:off x="5627963" y="1945946"/>
            <a:ext cx="257175" cy="177143"/>
          </a:xfrm>
          <a:prstGeom prst="roundRect">
            <a:avLst/>
          </a:prstGeom>
          <a:solidFill>
            <a:srgbClr val="2E7D32"/>
          </a:solidFill>
        </p:spPr>
        <p:txBody>
          <a:bodyPr/>
          <a:p/>
        </p:txBody>
      </p:sp>
      <p:sp>
        <p:nvSpPr>
          <p:cNvPr id="59" name="Text 46"/>
          <p:cNvSpPr/>
          <p:nvPr/>
        </p:nvSpPr>
        <p:spPr>
          <a:xfrm>
            <a:off x="5627963" y="1945946"/>
            <a:ext cx="257175" cy="17714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绿</a:t>
            </a:r>
            <a:endParaRPr lang="en-US" sz="585" dirty="0"/>
          </a:p>
        </p:txBody>
      </p:sp>
      <p:sp>
        <p:nvSpPr>
          <p:cNvPr id="60" name="Shape 47"/>
          <p:cNvSpPr/>
          <p:nvPr/>
        </p:nvSpPr>
        <p:spPr>
          <a:xfrm>
            <a:off x="6101572" y="1874509"/>
            <a:ext cx="2745963" cy="323590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1" name="Text 48"/>
          <p:cNvSpPr/>
          <p:nvPr/>
        </p:nvSpPr>
        <p:spPr>
          <a:xfrm>
            <a:off x="6101572" y="1874509"/>
            <a:ext cx="2745963" cy="323590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已按 channelId + timestamp + sign + version + AES param 实现请求/响应协议</a:t>
            </a:r>
            <a:endParaRPr lang="en-US" sz="675" dirty="0"/>
          </a:p>
        </p:txBody>
      </p:sp>
      <p:sp>
        <p:nvSpPr>
          <p:cNvPr id="62" name="Shape 49"/>
          <p:cNvSpPr/>
          <p:nvPr/>
        </p:nvSpPr>
        <p:spPr>
          <a:xfrm>
            <a:off x="4270986" y="2194527"/>
            <a:ext cx="1144116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3" name="Text 50"/>
          <p:cNvSpPr/>
          <p:nvPr/>
        </p:nvSpPr>
        <p:spPr>
          <a:xfrm>
            <a:off x="4270986" y="2194527"/>
            <a:ext cx="1144116" cy="327161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真实调用地址</a:t>
            </a:r>
            <a:endParaRPr lang="en-US" sz="635" dirty="0"/>
          </a:p>
        </p:txBody>
      </p:sp>
      <p:sp>
        <p:nvSpPr>
          <p:cNvPr id="64" name="Shape 51"/>
          <p:cNvSpPr/>
          <p:nvPr/>
        </p:nvSpPr>
        <p:spPr>
          <a:xfrm>
            <a:off x="5415102" y="2194527"/>
            <a:ext cx="686470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5" name="Shape 52"/>
          <p:cNvSpPr/>
          <p:nvPr/>
        </p:nvSpPr>
        <p:spPr>
          <a:xfrm>
            <a:off x="5627963" y="2262392"/>
            <a:ext cx="257175" cy="177143"/>
          </a:xfrm>
          <a:prstGeom prst="round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66" name="Text 53"/>
          <p:cNvSpPr/>
          <p:nvPr/>
        </p:nvSpPr>
        <p:spPr>
          <a:xfrm>
            <a:off x="5627963" y="2262392"/>
            <a:ext cx="257175" cy="17714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黄</a:t>
            </a:r>
            <a:endParaRPr lang="en-US" sz="585" dirty="0"/>
          </a:p>
        </p:txBody>
      </p:sp>
      <p:sp>
        <p:nvSpPr>
          <p:cNvPr id="67" name="Shape 54"/>
          <p:cNvSpPr/>
          <p:nvPr/>
        </p:nvSpPr>
        <p:spPr>
          <a:xfrm>
            <a:off x="6101572" y="2190955"/>
            <a:ext cx="2745963" cy="32359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8" name="Text 55"/>
          <p:cNvSpPr/>
          <p:nvPr/>
        </p:nvSpPr>
        <p:spPr>
          <a:xfrm>
            <a:off x="6101572" y="2190955"/>
            <a:ext cx="2745963" cy="323590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文档中未提供真实 host / domain / IP，仅有相对路径</a:t>
            </a:r>
            <a:endParaRPr lang="en-US" sz="675" dirty="0"/>
          </a:p>
        </p:txBody>
      </p:sp>
      <p:sp>
        <p:nvSpPr>
          <p:cNvPr id="69" name="Shape 56"/>
          <p:cNvSpPr/>
          <p:nvPr/>
        </p:nvSpPr>
        <p:spPr>
          <a:xfrm>
            <a:off x="4270986" y="2514544"/>
            <a:ext cx="1144116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0" name="Text 57"/>
          <p:cNvSpPr/>
          <p:nvPr/>
        </p:nvSpPr>
        <p:spPr>
          <a:xfrm>
            <a:off x="4270986" y="2514544"/>
            <a:ext cx="1144116" cy="327161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KJ回调报文兼容</a:t>
            </a:r>
            <a:endParaRPr lang="en-US" sz="635" dirty="0"/>
          </a:p>
        </p:txBody>
      </p:sp>
      <p:sp>
        <p:nvSpPr>
          <p:cNvPr id="71" name="Shape 58"/>
          <p:cNvSpPr/>
          <p:nvPr/>
        </p:nvSpPr>
        <p:spPr>
          <a:xfrm>
            <a:off x="5415102" y="2514544"/>
            <a:ext cx="686470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2" name="Shape 59"/>
          <p:cNvSpPr/>
          <p:nvPr/>
        </p:nvSpPr>
        <p:spPr>
          <a:xfrm>
            <a:off x="5627963" y="2582410"/>
            <a:ext cx="257175" cy="177143"/>
          </a:xfrm>
          <a:prstGeom prst="roundRect">
            <a:avLst/>
          </a:prstGeom>
          <a:solidFill>
            <a:srgbClr val="2E7D32"/>
          </a:solidFill>
        </p:spPr>
        <p:txBody>
          <a:bodyPr/>
          <a:p/>
        </p:txBody>
      </p:sp>
      <p:sp>
        <p:nvSpPr>
          <p:cNvPr id="73" name="Text 60"/>
          <p:cNvSpPr/>
          <p:nvPr/>
        </p:nvSpPr>
        <p:spPr>
          <a:xfrm>
            <a:off x="5627963" y="2582410"/>
            <a:ext cx="257175" cy="17714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绿</a:t>
            </a:r>
            <a:endParaRPr lang="en-US" sz="585" dirty="0"/>
          </a:p>
        </p:txBody>
      </p:sp>
      <p:sp>
        <p:nvSpPr>
          <p:cNvPr id="74" name="Shape 61"/>
          <p:cNvSpPr/>
          <p:nvPr/>
        </p:nvSpPr>
        <p:spPr>
          <a:xfrm>
            <a:off x="6101572" y="2510972"/>
            <a:ext cx="2745963" cy="323590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5" name="Text 62"/>
          <p:cNvSpPr/>
          <p:nvPr/>
        </p:nvSpPr>
        <p:spPr>
          <a:xfrm>
            <a:off x="6101572" y="2510972"/>
            <a:ext cx="2745963" cy="323590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已支持 loanInfoNotice / repayInfoNotice 标准结构接入，映射到内部处理模型</a:t>
            </a:r>
            <a:endParaRPr lang="en-US" sz="675" dirty="0"/>
          </a:p>
        </p:txBody>
      </p:sp>
      <p:sp>
        <p:nvSpPr>
          <p:cNvPr id="76" name="Shape 63"/>
          <p:cNvSpPr/>
          <p:nvPr/>
        </p:nvSpPr>
        <p:spPr>
          <a:xfrm>
            <a:off x="4270986" y="2834562"/>
            <a:ext cx="1144116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7" name="Text 64"/>
          <p:cNvSpPr/>
          <p:nvPr/>
        </p:nvSpPr>
        <p:spPr>
          <a:xfrm>
            <a:off x="4270986" y="2834562"/>
            <a:ext cx="1144116" cy="327161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真实联调准备度</a:t>
            </a:r>
            <a:endParaRPr lang="en-US" sz="635" dirty="0"/>
          </a:p>
        </p:txBody>
      </p:sp>
      <p:sp>
        <p:nvSpPr>
          <p:cNvPr id="78" name="Shape 65"/>
          <p:cNvSpPr/>
          <p:nvPr/>
        </p:nvSpPr>
        <p:spPr>
          <a:xfrm>
            <a:off x="5415102" y="2834562"/>
            <a:ext cx="686470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9" name="Shape 66"/>
          <p:cNvSpPr/>
          <p:nvPr/>
        </p:nvSpPr>
        <p:spPr>
          <a:xfrm>
            <a:off x="5627963" y="2902427"/>
            <a:ext cx="257175" cy="177143"/>
          </a:xfrm>
          <a:prstGeom prst="round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80" name="Text 67"/>
          <p:cNvSpPr/>
          <p:nvPr/>
        </p:nvSpPr>
        <p:spPr>
          <a:xfrm>
            <a:off x="5627963" y="2902427"/>
            <a:ext cx="257175" cy="17714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黄</a:t>
            </a:r>
            <a:endParaRPr lang="en-US" sz="585" dirty="0"/>
          </a:p>
        </p:txBody>
      </p:sp>
      <p:sp>
        <p:nvSpPr>
          <p:cNvPr id="81" name="Shape 68"/>
          <p:cNvSpPr/>
          <p:nvPr/>
        </p:nvSpPr>
        <p:spPr>
          <a:xfrm>
            <a:off x="6101572" y="2830990"/>
            <a:ext cx="2745963" cy="32359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2" name="Text 69"/>
          <p:cNvSpPr/>
          <p:nvPr/>
        </p:nvSpPr>
        <p:spPr>
          <a:xfrm>
            <a:off x="6101572" y="2830990"/>
            <a:ext cx="2745963" cy="323590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协议层、回调结构、真实HTTP能力与基础测试已具备；待补真实地址与正式密钥</a:t>
            </a:r>
            <a:endParaRPr lang="en-US" sz="675" dirty="0"/>
          </a:p>
        </p:txBody>
      </p:sp>
      <p:sp>
        <p:nvSpPr>
          <p:cNvPr id="83" name="Shape 70"/>
          <p:cNvSpPr/>
          <p:nvPr/>
        </p:nvSpPr>
        <p:spPr>
          <a:xfrm>
            <a:off x="4270986" y="3154580"/>
            <a:ext cx="1144116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4" name="Text 71"/>
          <p:cNvSpPr/>
          <p:nvPr/>
        </p:nvSpPr>
        <p:spPr>
          <a:xfrm>
            <a:off x="4270986" y="3154580"/>
            <a:ext cx="1144116" cy="327161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35" b="1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直接上线准备度</a:t>
            </a:r>
            <a:endParaRPr lang="en-US" sz="635" dirty="0"/>
          </a:p>
        </p:txBody>
      </p:sp>
      <p:sp>
        <p:nvSpPr>
          <p:cNvPr id="85" name="Shape 72"/>
          <p:cNvSpPr/>
          <p:nvPr/>
        </p:nvSpPr>
        <p:spPr>
          <a:xfrm>
            <a:off x="5412423" y="3154580"/>
            <a:ext cx="687000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6" name="Shape 73"/>
          <p:cNvSpPr/>
          <p:nvPr/>
        </p:nvSpPr>
        <p:spPr>
          <a:xfrm>
            <a:off x="5625536" y="3222445"/>
            <a:ext cx="257175" cy="177143"/>
          </a:xfrm>
          <a:prstGeom prst="roundRect">
            <a:avLst/>
          </a:prstGeom>
          <a:solidFill>
            <a:srgbClr val="D32F2F"/>
          </a:solidFill>
        </p:spPr>
        <p:txBody>
          <a:bodyPr/>
          <a:p/>
        </p:txBody>
      </p:sp>
      <p:sp>
        <p:nvSpPr>
          <p:cNvPr id="87" name="Text 74"/>
          <p:cNvSpPr/>
          <p:nvPr/>
        </p:nvSpPr>
        <p:spPr>
          <a:xfrm>
            <a:off x="5625536" y="3222445"/>
            <a:ext cx="257175" cy="17714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红</a:t>
            </a:r>
            <a:endParaRPr lang="en-US" sz="585" dirty="0"/>
          </a:p>
        </p:txBody>
      </p:sp>
      <p:sp>
        <p:nvSpPr>
          <p:cNvPr id="88" name="Shape 75"/>
          <p:cNvSpPr/>
          <p:nvPr/>
        </p:nvSpPr>
        <p:spPr>
          <a:xfrm>
            <a:off x="6099423" y="3151008"/>
            <a:ext cx="2748111" cy="320018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9" name="Text 76"/>
          <p:cNvSpPr/>
          <p:nvPr/>
        </p:nvSpPr>
        <p:spPr>
          <a:xfrm>
            <a:off x="6099423" y="3151008"/>
            <a:ext cx="2748111" cy="320018"/>
          </a:xfrm>
          <a:prstGeom prst="rect">
            <a:avLst/>
          </a:prstGeom>
          <a:noFill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在真实地址与签名规则未最终确认前，不建议作为正式生产版本上线</a:t>
            </a:r>
            <a:endParaRPr lang="en-US" sz="675" dirty="0"/>
          </a:p>
        </p:txBody>
      </p:sp>
      <p:sp>
        <p:nvSpPr>
          <p:cNvPr id="90" name="Shape 77"/>
          <p:cNvSpPr/>
          <p:nvPr/>
        </p:nvSpPr>
        <p:spPr>
          <a:xfrm>
            <a:off x="4267414" y="3628188"/>
            <a:ext cx="4583692" cy="307181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pic>
        <p:nvPicPr>
          <p:cNvPr id="91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714" y="3724628"/>
            <a:ext cx="100013" cy="114300"/>
          </a:xfrm>
          <a:prstGeom prst="rect">
            <a:avLst/>
          </a:prstGeom>
        </p:spPr>
      </p:pic>
      <p:sp>
        <p:nvSpPr>
          <p:cNvPr id="92" name="Text 78"/>
          <p:cNvSpPr/>
          <p:nvPr/>
        </p:nvSpPr>
        <p:spPr>
          <a:xfrm>
            <a:off x="4538876" y="3699625"/>
            <a:ext cx="9144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四、下周技术计划</a:t>
            </a:r>
            <a:endParaRPr lang="en-US" sz="785" dirty="0"/>
          </a:p>
        </p:txBody>
      </p:sp>
      <p:sp>
        <p:nvSpPr>
          <p:cNvPr id="93" name="Shape 79"/>
          <p:cNvSpPr/>
          <p:nvPr/>
        </p:nvSpPr>
        <p:spPr>
          <a:xfrm>
            <a:off x="4267414" y="3935369"/>
            <a:ext cx="4583692" cy="700088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9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714" y="4078244"/>
            <a:ext cx="75009" cy="85725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4528161" y="4049669"/>
            <a:ext cx="290036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文档定版与外部确认：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完成科技平台改造需求文档定版，输出短版问题清单，推动外部集中确认。</a:t>
            </a:r>
            <a:endParaRPr lang="en-US" sz="685" dirty="0"/>
          </a:p>
        </p:txBody>
      </p:sp>
      <p:pic>
        <p:nvPicPr>
          <p:cNvPr id="96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714" y="4313988"/>
            <a:ext cx="75009" cy="85725"/>
          </a:xfrm>
          <a:prstGeom prst="rect">
            <a:avLst/>
          </a:prstGeom>
        </p:spPr>
      </p:pic>
      <p:sp>
        <p:nvSpPr>
          <p:cNvPr id="97" name="Text 81"/>
          <p:cNvSpPr/>
          <p:nvPr/>
        </p:nvSpPr>
        <p:spPr>
          <a:xfrm>
            <a:off x="4528161" y="4285413"/>
            <a:ext cx="2995073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sz="685" b="1" dirty="0">
                <a:solidFill>
                  <a:srgbClr val="1A4FA3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低返工推进与条件评估：</a:t>
            </a:r>
            <a:r>
              <a:rPr lang="zh-CN" sz="725" dirty="0">
                <a:solidFill>
                  <a:srgbClr val="1A1A1A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继续维持低返工节奏；若环境信息到位，评估恢复科技平台执行态与M3.2联调排期。</a:t>
            </a:r>
            <a:endParaRPr lang="en-US" sz="685" dirty="0"/>
          </a:p>
        </p:txBody>
      </p:sp>
      <p:sp>
        <p:nvSpPr>
          <p:cNvPr id="98" name="Shape 8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1A4FA3"/>
          </a:solidFill>
        </p:spPr>
        <p:txBody>
          <a:bodyPr/>
          <a:p/>
        </p:txBody>
      </p:sp>
      <p:pic>
        <p:nvPicPr>
          <p:cNvPr id="99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" y="4974729"/>
            <a:ext cx="92869" cy="92869"/>
          </a:xfrm>
          <a:prstGeom prst="rect">
            <a:avLst/>
          </a:prstGeom>
        </p:spPr>
      </p:pic>
      <p:sp>
        <p:nvSpPr>
          <p:cNvPr id="100" name="Text 83"/>
          <p:cNvSpPr/>
          <p:nvPr/>
        </p:nvSpPr>
        <p:spPr>
          <a:xfrm>
            <a:off x="435769" y="4972943"/>
            <a:ext cx="1238380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小花科技 XIAOHUA FINTECH</a:t>
            </a:r>
            <a:endParaRPr lang="en-US" sz="675" dirty="0"/>
          </a:p>
        </p:txBody>
      </p:sp>
      <p:sp>
        <p:nvSpPr>
          <p:cNvPr id="101" name="Text 84"/>
          <p:cNvSpPr/>
          <p:nvPr/>
        </p:nvSpPr>
        <p:spPr>
          <a:xfrm>
            <a:off x="8569235" y="4947940"/>
            <a:ext cx="289015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 2 页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WPS 演示</Application>
  <PresentationFormat>On-screen Show (16:9)</PresentationFormat>
  <Paragraphs>178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PingFang SC</vt:lpstr>
      <vt:lpstr>PingFang SC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SKY</cp:lastModifiedBy>
  <cp:revision>7</cp:revision>
  <dcterms:created xsi:type="dcterms:W3CDTF">2026-04-11T14:43:56Z</dcterms:created>
  <dcterms:modified xsi:type="dcterms:W3CDTF">2026-04-11T14:43:56Z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F2B49344C04C638F155CDA69B0EF9710_42</vt:lpwstr>
  </property>
</Properties>
</file>